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1"/>
  </p:sldMasterIdLst>
  <p:notesMasterIdLst>
    <p:notesMasterId r:id="rId24"/>
  </p:notesMasterIdLst>
  <p:sldIdLst>
    <p:sldId id="343" r:id="rId2"/>
    <p:sldId id="257" r:id="rId3"/>
    <p:sldId id="284" r:id="rId4"/>
    <p:sldId id="342" r:id="rId5"/>
    <p:sldId id="259" r:id="rId6"/>
    <p:sldId id="349" r:id="rId7"/>
    <p:sldId id="283" r:id="rId8"/>
    <p:sldId id="350" r:id="rId9"/>
    <p:sldId id="351" r:id="rId10"/>
    <p:sldId id="353" r:id="rId11"/>
    <p:sldId id="285" r:id="rId12"/>
    <p:sldId id="344" r:id="rId13"/>
    <p:sldId id="355" r:id="rId14"/>
    <p:sldId id="354" r:id="rId15"/>
    <p:sldId id="356" r:id="rId16"/>
    <p:sldId id="357" r:id="rId17"/>
    <p:sldId id="358" r:id="rId18"/>
    <p:sldId id="359" r:id="rId19"/>
    <p:sldId id="360" r:id="rId20"/>
    <p:sldId id="346" r:id="rId21"/>
    <p:sldId id="361" r:id="rId22"/>
    <p:sldId id="34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FF7"/>
    <a:srgbClr val="D0D1D9"/>
    <a:srgbClr val="F6F9FF"/>
    <a:srgbClr val="1919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7" autoAdjust="0"/>
    <p:restoredTop sz="63937" autoAdjust="0"/>
  </p:normalViewPr>
  <p:slideViewPr>
    <p:cSldViewPr snapToGrid="0">
      <p:cViewPr varScale="1">
        <p:scale>
          <a:sx n="90" d="100"/>
          <a:sy n="90" d="100"/>
        </p:scale>
        <p:origin x="114" y="3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23" d="100"/>
          <a:sy n="123" d="100"/>
        </p:scale>
        <p:origin x="182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B2CDF2-5560-483D-8D7F-E4B476EDB5D6}" type="datetimeFigureOut">
              <a:rPr lang="en-US" smtClean="0"/>
              <a:t>4/14/2021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FFD20-7FBC-494E-B4C5-9D8DF29BDC89}" type="slidenum">
              <a:rPr lang="en-US" smtClean="0"/>
              <a:t>‹#›</a:t>
            </a:fld>
            <a:endParaRPr lang="en-US"/>
          </a:p>
        </p:txBody>
      </p:sp>
    </p:spTree>
    <p:extLst>
      <p:ext uri="{BB962C8B-B14F-4D97-AF65-F5344CB8AC3E}">
        <p14:creationId xmlns:p14="http://schemas.microsoft.com/office/powerpoint/2010/main" val="3197292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2</a:t>
            </a:fld>
            <a:endParaRPr lang="en-US"/>
          </a:p>
        </p:txBody>
      </p:sp>
    </p:spTree>
    <p:extLst>
      <p:ext uri="{BB962C8B-B14F-4D97-AF65-F5344CB8AC3E}">
        <p14:creationId xmlns:p14="http://schemas.microsoft.com/office/powerpoint/2010/main" val="3294093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3</a:t>
            </a:fld>
            <a:endParaRPr lang="en-US"/>
          </a:p>
        </p:txBody>
      </p:sp>
    </p:spTree>
    <p:extLst>
      <p:ext uri="{BB962C8B-B14F-4D97-AF65-F5344CB8AC3E}">
        <p14:creationId xmlns:p14="http://schemas.microsoft.com/office/powerpoint/2010/main" val="4232267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4</a:t>
            </a:fld>
            <a:endParaRPr lang="en-US"/>
          </a:p>
        </p:txBody>
      </p:sp>
    </p:spTree>
    <p:extLst>
      <p:ext uri="{BB962C8B-B14F-4D97-AF65-F5344CB8AC3E}">
        <p14:creationId xmlns:p14="http://schemas.microsoft.com/office/powerpoint/2010/main" val="1240908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5</a:t>
            </a:fld>
            <a:endParaRPr lang="en-US"/>
          </a:p>
        </p:txBody>
      </p:sp>
    </p:spTree>
    <p:extLst>
      <p:ext uri="{BB962C8B-B14F-4D97-AF65-F5344CB8AC3E}">
        <p14:creationId xmlns:p14="http://schemas.microsoft.com/office/powerpoint/2010/main" val="1627757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6</a:t>
            </a:fld>
            <a:endParaRPr lang="en-US"/>
          </a:p>
        </p:txBody>
      </p:sp>
    </p:spTree>
    <p:extLst>
      <p:ext uri="{BB962C8B-B14F-4D97-AF65-F5344CB8AC3E}">
        <p14:creationId xmlns:p14="http://schemas.microsoft.com/office/powerpoint/2010/main" val="3261491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7</a:t>
            </a:fld>
            <a:endParaRPr lang="en-US"/>
          </a:p>
        </p:txBody>
      </p:sp>
    </p:spTree>
    <p:extLst>
      <p:ext uri="{BB962C8B-B14F-4D97-AF65-F5344CB8AC3E}">
        <p14:creationId xmlns:p14="http://schemas.microsoft.com/office/powerpoint/2010/main" val="97892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8</a:t>
            </a:fld>
            <a:endParaRPr lang="en-US"/>
          </a:p>
        </p:txBody>
      </p:sp>
    </p:spTree>
    <p:extLst>
      <p:ext uri="{BB962C8B-B14F-4D97-AF65-F5344CB8AC3E}">
        <p14:creationId xmlns:p14="http://schemas.microsoft.com/office/powerpoint/2010/main" val="3425893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9</a:t>
            </a:fld>
            <a:endParaRPr lang="en-US"/>
          </a:p>
        </p:txBody>
      </p:sp>
    </p:spTree>
    <p:extLst>
      <p:ext uri="{BB962C8B-B14F-4D97-AF65-F5344CB8AC3E}">
        <p14:creationId xmlns:p14="http://schemas.microsoft.com/office/powerpoint/2010/main" val="1563092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10</a:t>
            </a:fld>
            <a:endParaRPr lang="en-US"/>
          </a:p>
        </p:txBody>
      </p:sp>
    </p:spTree>
    <p:extLst>
      <p:ext uri="{BB962C8B-B14F-4D97-AF65-F5344CB8AC3E}">
        <p14:creationId xmlns:p14="http://schemas.microsoft.com/office/powerpoint/2010/main" val="470374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11</a:t>
            </a:fld>
            <a:endParaRPr lang="en-US"/>
          </a:p>
        </p:txBody>
      </p:sp>
    </p:spTree>
    <p:extLst>
      <p:ext uri="{BB962C8B-B14F-4D97-AF65-F5344CB8AC3E}">
        <p14:creationId xmlns:p14="http://schemas.microsoft.com/office/powerpoint/2010/main" val="1011538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13</a:t>
            </a:fld>
            <a:endParaRPr lang="en-US"/>
          </a:p>
        </p:txBody>
      </p:sp>
    </p:spTree>
    <p:extLst>
      <p:ext uri="{BB962C8B-B14F-4D97-AF65-F5344CB8AC3E}">
        <p14:creationId xmlns:p14="http://schemas.microsoft.com/office/powerpoint/2010/main" val="3640527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14</a:t>
            </a:fld>
            <a:endParaRPr lang="en-US"/>
          </a:p>
        </p:txBody>
      </p:sp>
    </p:spTree>
    <p:extLst>
      <p:ext uri="{BB962C8B-B14F-4D97-AF65-F5344CB8AC3E}">
        <p14:creationId xmlns:p14="http://schemas.microsoft.com/office/powerpoint/2010/main" val="2387719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15</a:t>
            </a:fld>
            <a:endParaRPr lang="en-US"/>
          </a:p>
        </p:txBody>
      </p:sp>
    </p:spTree>
    <p:extLst>
      <p:ext uri="{BB962C8B-B14F-4D97-AF65-F5344CB8AC3E}">
        <p14:creationId xmlns:p14="http://schemas.microsoft.com/office/powerpoint/2010/main" val="3376387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16</a:t>
            </a:fld>
            <a:endParaRPr lang="en-US"/>
          </a:p>
        </p:txBody>
      </p:sp>
    </p:spTree>
    <p:extLst>
      <p:ext uri="{BB962C8B-B14F-4D97-AF65-F5344CB8AC3E}">
        <p14:creationId xmlns:p14="http://schemas.microsoft.com/office/powerpoint/2010/main" val="2305644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17</a:t>
            </a:fld>
            <a:endParaRPr lang="en-US"/>
          </a:p>
        </p:txBody>
      </p:sp>
    </p:spTree>
    <p:extLst>
      <p:ext uri="{BB962C8B-B14F-4D97-AF65-F5344CB8AC3E}">
        <p14:creationId xmlns:p14="http://schemas.microsoft.com/office/powerpoint/2010/main" val="3322022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18</a:t>
            </a:fld>
            <a:endParaRPr lang="en-US"/>
          </a:p>
        </p:txBody>
      </p:sp>
    </p:spTree>
    <p:extLst>
      <p:ext uri="{BB962C8B-B14F-4D97-AF65-F5344CB8AC3E}">
        <p14:creationId xmlns:p14="http://schemas.microsoft.com/office/powerpoint/2010/main" val="3630880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19</a:t>
            </a:fld>
            <a:endParaRPr lang="en-US"/>
          </a:p>
        </p:txBody>
      </p:sp>
    </p:spTree>
    <p:extLst>
      <p:ext uri="{BB962C8B-B14F-4D97-AF65-F5344CB8AC3E}">
        <p14:creationId xmlns:p14="http://schemas.microsoft.com/office/powerpoint/2010/main" val="1041569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20</a:t>
            </a:fld>
            <a:endParaRPr lang="en-US"/>
          </a:p>
        </p:txBody>
      </p:sp>
    </p:spTree>
    <p:extLst>
      <p:ext uri="{BB962C8B-B14F-4D97-AF65-F5344CB8AC3E}">
        <p14:creationId xmlns:p14="http://schemas.microsoft.com/office/powerpoint/2010/main" val="1092299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0FFD20-7FBC-494E-B4C5-9D8DF29BDC89}" type="slidenum">
              <a:rPr lang="en-US" smtClean="0"/>
              <a:t>21</a:t>
            </a:fld>
            <a:endParaRPr lang="en-US"/>
          </a:p>
        </p:txBody>
      </p:sp>
    </p:spTree>
    <p:extLst>
      <p:ext uri="{BB962C8B-B14F-4D97-AF65-F5344CB8AC3E}">
        <p14:creationId xmlns:p14="http://schemas.microsoft.com/office/powerpoint/2010/main" val="317824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F9512BDE-EEA0-404B-8D45-8AA93D61DABC}"/>
              </a:ext>
            </a:extLst>
          </p:cNvPr>
          <p:cNvSpPr/>
          <p:nvPr userDrawn="1"/>
        </p:nvSpPr>
        <p:spPr>
          <a:xfrm flipH="1">
            <a:off x="-1" y="4450188"/>
            <a:ext cx="12192000" cy="2407811"/>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1" name="Rectangle">
            <a:extLst>
              <a:ext uri="{FF2B5EF4-FFF2-40B4-BE49-F238E27FC236}">
                <a16:creationId xmlns:a16="http://schemas.microsoft.com/office/drawing/2014/main" id="{E1223535-0F2F-6340-80B9-0B5D9364A13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cap="all" spc="-50" baseline="0">
                <a:solidFill>
                  <a:schemeClr val="tx1">
                    <a:lumMod val="85000"/>
                    <a:lumOff val="15000"/>
                  </a:schemeClr>
                </a:solidFill>
              </a:defRPr>
            </a:lvl1pPr>
          </a:lstStyle>
          <a:p>
            <a:r>
              <a:rPr lang="en-US" noProof="0"/>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noProof="0" smtClean="0"/>
              <a:t>4/14/2021</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72358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Header">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F9512BDE-EEA0-404B-8D45-8AA93D61DABC}"/>
              </a:ext>
            </a:extLst>
          </p:cNvPr>
          <p:cNvSpPr/>
          <p:nvPr userDrawn="1"/>
        </p:nvSpPr>
        <p:spPr>
          <a:xfrm flipH="1">
            <a:off x="4217870" y="0"/>
            <a:ext cx="3599236" cy="6857999"/>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1" name="Rectangle">
            <a:extLst>
              <a:ext uri="{FF2B5EF4-FFF2-40B4-BE49-F238E27FC236}">
                <a16:creationId xmlns:a16="http://schemas.microsoft.com/office/drawing/2014/main" id="{E1223535-0F2F-6340-80B9-0B5D9364A13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cap="all" spc="-50" baseline="0">
                <a:solidFill>
                  <a:schemeClr val="tx1">
                    <a:lumMod val="85000"/>
                    <a:lumOff val="15000"/>
                  </a:schemeClr>
                </a:solidFill>
              </a:defRPr>
            </a:lvl1pPr>
          </a:lstStyle>
          <a:p>
            <a:r>
              <a:rPr lang="en-US" noProof="0"/>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noProof="0" smtClean="0"/>
              <a:t>4/14/2021</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397075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202A34A5-A029-A246-82C6-D288185EB396}"/>
              </a:ext>
            </a:extLst>
          </p:cNvPr>
          <p:cNvSpPr/>
          <p:nvPr userDrawn="1"/>
        </p:nvSpPr>
        <p:spPr>
          <a:xfrm flipH="1">
            <a:off x="0" y="0"/>
            <a:ext cx="3351057"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3" name="Rectangle">
            <a:extLst>
              <a:ext uri="{FF2B5EF4-FFF2-40B4-BE49-F238E27FC236}">
                <a16:creationId xmlns:a16="http://schemas.microsoft.com/office/drawing/2014/main" id="{2773E1D8-C87F-EE46-8284-575DCA498E8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noProof="0" smtClean="0"/>
              <a:t>4/14/2021</a:t>
            </a:fld>
            <a:endParaRPr lang="en-US" noProof="0"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noProof="0"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1" name="Title Placeholder 1">
            <a:extLst>
              <a:ext uri="{FF2B5EF4-FFF2-40B4-BE49-F238E27FC236}">
                <a16:creationId xmlns:a16="http://schemas.microsoft.com/office/drawing/2014/main" id="{C429A40D-770E-C144-A5B5-6A4442C09C24}"/>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343240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15" name="Rectangle">
            <a:extLst>
              <a:ext uri="{FF2B5EF4-FFF2-40B4-BE49-F238E27FC236}">
                <a16:creationId xmlns:a16="http://schemas.microsoft.com/office/drawing/2014/main" id="{64248D99-2B30-464D-B9B7-4E5C3A1F3FB2}"/>
              </a:ext>
            </a:extLst>
          </p:cNvPr>
          <p:cNvSpPr/>
          <p:nvPr userDrawn="1"/>
        </p:nvSpPr>
        <p:spPr>
          <a:xfrm flipH="1">
            <a:off x="0" y="0"/>
            <a:ext cx="6096000"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6" name="Rectangle">
            <a:extLst>
              <a:ext uri="{FF2B5EF4-FFF2-40B4-BE49-F238E27FC236}">
                <a16:creationId xmlns:a16="http://schemas.microsoft.com/office/drawing/2014/main" id="{3FAFF55B-FDE6-394B-A39B-22627D8FB6E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097280" y="2958274"/>
            <a:ext cx="4639736" cy="2910821"/>
          </a:xfrm>
        </p:spPr>
        <p:txBody>
          <a:bodyPr>
            <a:normAutofit/>
          </a:bodyPr>
          <a:lstStyle>
            <a:lvl1pPr>
              <a:defRPr sz="1600">
                <a:solidFill>
                  <a:schemeClr val="tx1"/>
                </a:solidFill>
              </a:defRPr>
            </a:lvl1pPr>
            <a:lvl2pPr>
              <a:defRPr sz="1400">
                <a:solidFill>
                  <a:schemeClr val="tx1"/>
                </a:solidFill>
              </a:defRPr>
            </a:lvl2pPr>
            <a:lvl3pPr>
              <a:defRPr sz="1100">
                <a:solidFill>
                  <a:schemeClr val="tx1"/>
                </a:solidFill>
              </a:defRPr>
            </a:lvl3pPr>
            <a:lvl4pPr>
              <a:defRPr sz="1100">
                <a:solidFill>
                  <a:schemeClr val="tx1"/>
                </a:solidFill>
              </a:defRPr>
            </a:lvl4pPr>
            <a:lvl5pP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515944" y="2958273"/>
            <a:ext cx="4639736" cy="2910821"/>
          </a:xfrm>
        </p:spPr>
        <p:txBody>
          <a:bodyPr>
            <a:normAutofit/>
          </a:bodyPr>
          <a:lstStyle>
            <a:lvl1pPr>
              <a:defRPr sz="1600">
                <a:solidFill>
                  <a:schemeClr val="tx1"/>
                </a:solidFill>
              </a:defRPr>
            </a:lvl1pPr>
            <a:lvl2pPr>
              <a:defRPr sz="1400">
                <a:solidFill>
                  <a:schemeClr val="tx1"/>
                </a:solidFill>
              </a:defRPr>
            </a:lvl2pPr>
            <a:lvl3pPr>
              <a:defRPr sz="1100">
                <a:solidFill>
                  <a:schemeClr val="tx1"/>
                </a:solidFill>
              </a:defRPr>
            </a:lvl3pPr>
            <a:lvl4pPr>
              <a:defRPr sz="1100">
                <a:solidFill>
                  <a:schemeClr val="tx1"/>
                </a:solidFill>
              </a:defRPr>
            </a:lvl4pPr>
            <a:lvl5pP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noProof="0" smtClean="0"/>
              <a:t>4/14/2021</a:t>
            </a:fld>
            <a:endParaRPr lang="en-US" noProof="0"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noProof="0"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7" name="Title Placeholder 1">
            <a:extLst>
              <a:ext uri="{FF2B5EF4-FFF2-40B4-BE49-F238E27FC236}">
                <a16:creationId xmlns:a16="http://schemas.microsoft.com/office/drawing/2014/main" id="{99E345E4-E77C-484E-9FBB-E4EC71F08545}"/>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2423224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83ACCAC0-2C8A-CE43-8C55-22BB53C73920}"/>
              </a:ext>
            </a:extLst>
          </p:cNvPr>
          <p:cNvSpPr/>
          <p:nvPr userDrawn="1"/>
        </p:nvSpPr>
        <p:spPr>
          <a:xfrm flipH="1">
            <a:off x="0" y="0"/>
            <a:ext cx="3351057"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A400A9BD-AA60-E24D-9FC2-722758C8C933}"/>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noProof="0" smtClean="0"/>
              <a:t>4/14/2021</a:t>
            </a:fld>
            <a:endParaRPr lang="en-US" noProof="0"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noProof="0"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4" name="Title Placeholder 1">
            <a:extLst>
              <a:ext uri="{FF2B5EF4-FFF2-40B4-BE49-F238E27FC236}">
                <a16:creationId xmlns:a16="http://schemas.microsoft.com/office/drawing/2014/main" id="{D4076461-FF7A-8843-B7F9-D041F3FB22FC}"/>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3020399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am ">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35FB147F-5DC4-B24C-B8CB-D3DA74290381}"/>
              </a:ext>
            </a:extLst>
          </p:cNvPr>
          <p:cNvSpPr/>
          <p:nvPr userDrawn="1"/>
        </p:nvSpPr>
        <p:spPr>
          <a:xfrm>
            <a:off x="1" y="34290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A400A9BD-AA60-E24D-9FC2-722758C8C933}"/>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noProof="0" smtClean="0"/>
              <a:t>4/14/2021</a:t>
            </a:fld>
            <a:endParaRPr lang="en-US" noProof="0"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noProof="0"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9" name="Picture Placeholder 3">
            <a:extLst>
              <a:ext uri="{FF2B5EF4-FFF2-40B4-BE49-F238E27FC236}">
                <a16:creationId xmlns:a16="http://schemas.microsoft.com/office/drawing/2014/main" id="{B9308E97-4F89-394E-856A-5B4EFCB2E73D}"/>
              </a:ext>
            </a:extLst>
          </p:cNvPr>
          <p:cNvSpPr>
            <a:spLocks noGrp="1"/>
          </p:cNvSpPr>
          <p:nvPr>
            <p:ph type="pic" sz="quarter" idx="13"/>
          </p:nvPr>
        </p:nvSpPr>
        <p:spPr>
          <a:xfrm>
            <a:off x="1097279" y="193086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0" name="Picture Placeholder 3">
            <a:extLst>
              <a:ext uri="{FF2B5EF4-FFF2-40B4-BE49-F238E27FC236}">
                <a16:creationId xmlns:a16="http://schemas.microsoft.com/office/drawing/2014/main" id="{A50BECA0-8817-964B-AEDB-A45669684C37}"/>
              </a:ext>
            </a:extLst>
          </p:cNvPr>
          <p:cNvSpPr>
            <a:spLocks noGrp="1"/>
          </p:cNvSpPr>
          <p:nvPr>
            <p:ph type="pic" sz="quarter" idx="14"/>
          </p:nvPr>
        </p:nvSpPr>
        <p:spPr>
          <a:xfrm>
            <a:off x="4659186" y="193086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1" name="Picture Placeholder 3">
            <a:extLst>
              <a:ext uri="{FF2B5EF4-FFF2-40B4-BE49-F238E27FC236}">
                <a16:creationId xmlns:a16="http://schemas.microsoft.com/office/drawing/2014/main" id="{EF399F4D-B67A-4C4B-BCF3-36FE110603F1}"/>
              </a:ext>
            </a:extLst>
          </p:cNvPr>
          <p:cNvSpPr>
            <a:spLocks noGrp="1"/>
          </p:cNvSpPr>
          <p:nvPr>
            <p:ph type="pic" sz="quarter" idx="15"/>
          </p:nvPr>
        </p:nvSpPr>
        <p:spPr>
          <a:xfrm>
            <a:off x="8221093" y="1930861"/>
            <a:ext cx="2919413" cy="2919413"/>
          </a:xfrm>
          <a:solidFill>
            <a:srgbClr val="EDEFF7"/>
          </a:solidFill>
        </p:spPr>
        <p:txBody>
          <a:bodyPr anchor="ctr"/>
          <a:lstStyle>
            <a:lvl1pPr algn="ctr">
              <a:defRPr/>
            </a:lvl1pPr>
          </a:lstStyle>
          <a:p>
            <a:r>
              <a:rPr lang="en-US" noProof="0"/>
              <a:t>Click icon to add picture</a:t>
            </a:r>
            <a:endParaRPr lang="en-US" noProof="0" dirty="0"/>
          </a:p>
        </p:txBody>
      </p:sp>
      <p:sp>
        <p:nvSpPr>
          <p:cNvPr id="22" name="Text Placeholder 3">
            <a:extLst>
              <a:ext uri="{FF2B5EF4-FFF2-40B4-BE49-F238E27FC236}">
                <a16:creationId xmlns:a16="http://schemas.microsoft.com/office/drawing/2014/main" id="{08305C84-E25F-EC49-8F2B-4C0181FD3ABF}"/>
              </a:ext>
            </a:extLst>
          </p:cNvPr>
          <p:cNvSpPr>
            <a:spLocks noGrp="1"/>
          </p:cNvSpPr>
          <p:nvPr>
            <p:ph type="body" sz="half" idx="2" hasCustomPrompt="1"/>
          </p:nvPr>
        </p:nvSpPr>
        <p:spPr>
          <a:xfrm>
            <a:off x="1097279"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3" name="Text Placeholder 3">
            <a:extLst>
              <a:ext uri="{FF2B5EF4-FFF2-40B4-BE49-F238E27FC236}">
                <a16:creationId xmlns:a16="http://schemas.microsoft.com/office/drawing/2014/main" id="{A57A1FCE-E6BF-3747-9D43-42DBA6656EC0}"/>
              </a:ext>
            </a:extLst>
          </p:cNvPr>
          <p:cNvSpPr>
            <a:spLocks noGrp="1"/>
          </p:cNvSpPr>
          <p:nvPr>
            <p:ph type="body" sz="half" idx="16" hasCustomPrompt="1"/>
          </p:nvPr>
        </p:nvSpPr>
        <p:spPr>
          <a:xfrm>
            <a:off x="4666773"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4" name="Text Placeholder 3">
            <a:extLst>
              <a:ext uri="{FF2B5EF4-FFF2-40B4-BE49-F238E27FC236}">
                <a16:creationId xmlns:a16="http://schemas.microsoft.com/office/drawing/2014/main" id="{5B4B74C8-96E7-684F-91B9-8CE56CD10F1E}"/>
              </a:ext>
            </a:extLst>
          </p:cNvPr>
          <p:cNvSpPr>
            <a:spLocks noGrp="1"/>
          </p:cNvSpPr>
          <p:nvPr>
            <p:ph type="body" sz="half" idx="17" hasCustomPrompt="1"/>
          </p:nvPr>
        </p:nvSpPr>
        <p:spPr>
          <a:xfrm>
            <a:off x="8236267" y="5257321"/>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Name Goes Here</a:t>
            </a:r>
          </a:p>
        </p:txBody>
      </p:sp>
      <p:sp>
        <p:nvSpPr>
          <p:cNvPr id="25" name="Title Placeholder 1">
            <a:extLst>
              <a:ext uri="{FF2B5EF4-FFF2-40B4-BE49-F238E27FC236}">
                <a16:creationId xmlns:a16="http://schemas.microsoft.com/office/drawing/2014/main" id="{D522564E-B348-544F-A8E5-CFCAFA48B54B}"/>
              </a:ext>
            </a:extLst>
          </p:cNvPr>
          <p:cNvSpPr>
            <a:spLocks noGrp="1"/>
          </p:cNvSpPr>
          <p:nvPr>
            <p:ph type="title" hasCustomPrompt="1"/>
          </p:nvPr>
        </p:nvSpPr>
        <p:spPr>
          <a:xfrm>
            <a:off x="1097280" y="942871"/>
            <a:ext cx="10058400" cy="587584"/>
          </a:xfrm>
          <a:prstGeom prst="rect">
            <a:avLst/>
          </a:prstGeom>
        </p:spPr>
        <p:txBody>
          <a:bodyPr vert="horz" lIns="91440" tIns="45720" rIns="91440" bIns="45720" rtlCol="0" anchor="ctr">
            <a:normAutofit/>
          </a:bodyPr>
          <a:lstStyle>
            <a:lvl1pPr>
              <a:defRPr cap="all" baseline="0"/>
            </a:lvl1pPr>
          </a:lstStyle>
          <a:p>
            <a:r>
              <a:rPr lang="en-US" noProof="0"/>
              <a:t>CLICK TO EDIT MASTER TITLE STYLE</a:t>
            </a:r>
          </a:p>
        </p:txBody>
      </p:sp>
    </p:spTree>
    <p:extLst>
      <p:ext uri="{BB962C8B-B14F-4D97-AF65-F5344CB8AC3E}">
        <p14:creationId xmlns:p14="http://schemas.microsoft.com/office/powerpoint/2010/main" val="141889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4/14/2021</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2472297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4/14/2021</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05BFC727-5650-B049-AA2A-2511C08FB35B}"/>
              </a:ext>
            </a:extLst>
          </p:cNvPr>
          <p:cNvSpPr/>
          <p:nvPr userDrawn="1"/>
        </p:nvSpPr>
        <p:spPr>
          <a:xfrm flipH="1">
            <a:off x="0" y="0"/>
            <a:ext cx="1195754"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E700C598-C823-744D-BE16-5114B7625057}"/>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Picture Placeholder 8">
            <a:extLst>
              <a:ext uri="{FF2B5EF4-FFF2-40B4-BE49-F238E27FC236}">
                <a16:creationId xmlns:a16="http://schemas.microsoft.com/office/drawing/2014/main" id="{21BED569-C9C5-8F4D-A42A-ED4914579D63}"/>
              </a:ext>
            </a:extLst>
          </p:cNvPr>
          <p:cNvSpPr>
            <a:spLocks noGrp="1"/>
          </p:cNvSpPr>
          <p:nvPr>
            <p:ph type="pic" sz="quarter" idx="13"/>
          </p:nvPr>
        </p:nvSpPr>
        <p:spPr>
          <a:xfrm>
            <a:off x="5924550" y="633875"/>
            <a:ext cx="5632450" cy="5591175"/>
          </a:xfrm>
          <a:solidFill>
            <a:schemeClr val="tx2"/>
          </a:solidFill>
        </p:spPr>
        <p:txBody>
          <a:bodyPr anchor="ctr"/>
          <a:lstStyle>
            <a:lvl1pPr algn="ctr">
              <a:defRPr>
                <a:solidFill>
                  <a:schemeClr val="bg1"/>
                </a:solidFill>
              </a:defRPr>
            </a:lvl1pPr>
          </a:lstStyle>
          <a:p>
            <a:r>
              <a:rPr lang="en-US" noProof="0"/>
              <a:t>Click icon to add picture</a:t>
            </a:r>
            <a:endParaRPr lang="en-US" noProof="0" dirty="0"/>
          </a:p>
        </p:txBody>
      </p:sp>
      <p:sp>
        <p:nvSpPr>
          <p:cNvPr id="11" name="Title Placeholder 1">
            <a:extLst>
              <a:ext uri="{FF2B5EF4-FFF2-40B4-BE49-F238E27FC236}">
                <a16:creationId xmlns:a16="http://schemas.microsoft.com/office/drawing/2014/main" id="{ACB6E588-2EB7-9A41-A93A-7757596EF9D6}"/>
              </a:ext>
            </a:extLst>
          </p:cNvPr>
          <p:cNvSpPr>
            <a:spLocks noGrp="1"/>
          </p:cNvSpPr>
          <p:nvPr>
            <p:ph type="title" hasCustomPrompt="1"/>
          </p:nvPr>
        </p:nvSpPr>
        <p:spPr>
          <a:xfrm>
            <a:off x="1195754" y="942870"/>
            <a:ext cx="4157296" cy="1292750"/>
          </a:xfrm>
          <a:prstGeom prst="rect">
            <a:avLst/>
          </a:prstGeom>
        </p:spPr>
        <p:txBody>
          <a:bodyPr vert="horz" lIns="91440" tIns="45720" rIns="91440" bIns="45720" rtlCol="0" anchor="ctr">
            <a:normAutofit/>
          </a:bodyPr>
          <a:lstStyle>
            <a:lvl1pPr>
              <a:defRPr cap="all" baseline="0"/>
            </a:lvl1pPr>
          </a:lstStyle>
          <a:p>
            <a:r>
              <a:rPr lang="en-US" noProof="0"/>
              <a:t>Title goes here</a:t>
            </a:r>
          </a:p>
        </p:txBody>
      </p:sp>
      <p:sp>
        <p:nvSpPr>
          <p:cNvPr id="12" name="Content Placeholder 3">
            <a:extLst>
              <a:ext uri="{FF2B5EF4-FFF2-40B4-BE49-F238E27FC236}">
                <a16:creationId xmlns:a16="http://schemas.microsoft.com/office/drawing/2014/main" id="{A6C0FE70-F6BB-3D40-AD3C-E704CABE499C}"/>
              </a:ext>
            </a:extLst>
          </p:cNvPr>
          <p:cNvSpPr>
            <a:spLocks noGrp="1"/>
          </p:cNvSpPr>
          <p:nvPr>
            <p:ph sz="half" idx="2"/>
          </p:nvPr>
        </p:nvSpPr>
        <p:spPr>
          <a:xfrm>
            <a:off x="1195754" y="2281657"/>
            <a:ext cx="4157296" cy="3633471"/>
          </a:xfrm>
        </p:spPr>
        <p:txBody>
          <a:bodyPr>
            <a:normAutofit/>
          </a:bodyPr>
          <a:lstStyle>
            <a:lvl1pPr marL="0" indent="0">
              <a:buClr>
                <a:schemeClr val="tx1"/>
              </a:buClr>
              <a:buNone/>
              <a:defRPr sz="1600">
                <a:solidFill>
                  <a:schemeClr val="tx1"/>
                </a:solidFill>
              </a:defRPr>
            </a:lvl1pPr>
            <a:lvl2pPr marL="201168" indent="0">
              <a:buClr>
                <a:schemeClr val="tx1"/>
              </a:buClr>
              <a:buFont typeface="Arial" panose="020B0604020202020204" pitchFamily="34" charset="0"/>
              <a:buNone/>
              <a:defRPr sz="1400">
                <a:solidFill>
                  <a:schemeClr val="tx1"/>
                </a:solidFill>
              </a:defRPr>
            </a:lvl2pPr>
            <a:lvl3pPr marL="384048" indent="0">
              <a:buClr>
                <a:schemeClr val="tx1"/>
              </a:buClr>
              <a:buFont typeface="Arial" panose="020B0604020202020204" pitchFamily="34" charset="0"/>
              <a:buNone/>
              <a:defRPr sz="1100">
                <a:solidFill>
                  <a:schemeClr val="tx1"/>
                </a:solidFill>
              </a:defRPr>
            </a:lvl3pPr>
            <a:lvl4pPr marL="566928" indent="0">
              <a:buClr>
                <a:schemeClr val="tx1"/>
              </a:buClr>
              <a:buFont typeface="Arial" panose="020B0604020202020204" pitchFamily="34" charset="0"/>
              <a:buNone/>
              <a:defRPr sz="1100">
                <a:solidFill>
                  <a:schemeClr val="tx1"/>
                </a:solidFill>
              </a:defRPr>
            </a:lvl4pPr>
            <a:lvl5pPr marL="749808" indent="0">
              <a:buClr>
                <a:schemeClr val="tx1"/>
              </a:buClr>
              <a:buFont typeface="Arial" panose="020B0604020202020204" pitchFamily="34" charset="0"/>
              <a:buNone/>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01714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4/14/2021</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0AB10FFC-D586-994D-8D3D-F4042255CB72}"/>
              </a:ext>
            </a:extLst>
          </p:cNvPr>
          <p:cNvSpPr/>
          <p:nvPr userDrawn="1"/>
        </p:nvSpPr>
        <p:spPr>
          <a:xfrm flipH="1">
            <a:off x="0" y="0"/>
            <a:ext cx="12192000"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C7B0C08A-E831-D242-B2CE-2DEB004F982F}"/>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cxnSp>
        <p:nvCxnSpPr>
          <p:cNvPr id="7" name="Straight Connector 6">
            <a:extLst>
              <a:ext uri="{FF2B5EF4-FFF2-40B4-BE49-F238E27FC236}">
                <a16:creationId xmlns:a16="http://schemas.microsoft.com/office/drawing/2014/main" id="{105C2191-88F7-4148-96FD-E129F707E038}"/>
              </a:ext>
            </a:extLst>
          </p:cNvPr>
          <p:cNvCxnSpPr/>
          <p:nvPr userDrawn="1"/>
        </p:nvCxnSpPr>
        <p:spPr>
          <a:xfrm>
            <a:off x="6818393" y="999565"/>
            <a:ext cx="0" cy="4858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itle Placeholder 1">
            <a:extLst>
              <a:ext uri="{FF2B5EF4-FFF2-40B4-BE49-F238E27FC236}">
                <a16:creationId xmlns:a16="http://schemas.microsoft.com/office/drawing/2014/main" id="{61FB2196-E251-5A40-86F7-6092CEBFA133}"/>
              </a:ext>
            </a:extLst>
          </p:cNvPr>
          <p:cNvSpPr>
            <a:spLocks noGrp="1"/>
          </p:cNvSpPr>
          <p:nvPr>
            <p:ph type="title" hasCustomPrompt="1"/>
          </p:nvPr>
        </p:nvSpPr>
        <p:spPr>
          <a:xfrm>
            <a:off x="635000" y="3135207"/>
            <a:ext cx="5460992" cy="587584"/>
          </a:xfrm>
          <a:prstGeom prst="rect">
            <a:avLst/>
          </a:prstGeom>
        </p:spPr>
        <p:txBody>
          <a:bodyPr vert="horz" lIns="91440" tIns="45720" rIns="91440" bIns="45720" rtlCol="0" anchor="ctr">
            <a:noAutofit/>
          </a:bodyPr>
          <a:lstStyle>
            <a:lvl1pPr algn="r">
              <a:defRPr sz="4800" cap="all" baseline="0"/>
            </a:lvl1pPr>
          </a:lstStyle>
          <a:p>
            <a:r>
              <a:rPr lang="en-US" noProof="0"/>
              <a:t>Title goes here</a:t>
            </a:r>
          </a:p>
        </p:txBody>
      </p:sp>
      <p:sp>
        <p:nvSpPr>
          <p:cNvPr id="12" name="Content Placeholder 3">
            <a:extLst>
              <a:ext uri="{FF2B5EF4-FFF2-40B4-BE49-F238E27FC236}">
                <a16:creationId xmlns:a16="http://schemas.microsoft.com/office/drawing/2014/main" id="{C2FACD1B-0D9C-A547-98A0-D66C341D3D74}"/>
              </a:ext>
            </a:extLst>
          </p:cNvPr>
          <p:cNvSpPr>
            <a:spLocks noGrp="1"/>
          </p:cNvSpPr>
          <p:nvPr>
            <p:ph sz="half" idx="2" hasCustomPrompt="1"/>
          </p:nvPr>
        </p:nvSpPr>
        <p:spPr>
          <a:xfrm>
            <a:off x="7540794" y="831286"/>
            <a:ext cx="4016206" cy="5195425"/>
          </a:xfrm>
        </p:spPr>
        <p:txBody>
          <a:bodyPr anchor="ctr">
            <a:normAutofit/>
          </a:bodyPr>
          <a:lstStyle>
            <a:lvl1pPr marL="342900" indent="-342900">
              <a:buClr>
                <a:schemeClr val="tx1"/>
              </a:buClr>
              <a:buFont typeface="+mj-lt"/>
              <a:buAutoNum type="arabicPeriod"/>
              <a:defRPr sz="1600">
                <a:solidFill>
                  <a:schemeClr val="tx1"/>
                </a:solidFill>
              </a:defRPr>
            </a:lvl1pPr>
            <a:lvl2pPr marL="544068" indent="-342900">
              <a:buClr>
                <a:schemeClr val="tx1"/>
              </a:buClr>
              <a:buFont typeface="+mj-lt"/>
              <a:buAutoNum type="arabicPeriod"/>
              <a:defRPr sz="1400"/>
            </a:lvl2pPr>
            <a:lvl3pPr marL="612648" indent="-228600">
              <a:buClr>
                <a:schemeClr val="tx1"/>
              </a:buClr>
              <a:buFont typeface="+mj-lt"/>
              <a:buAutoNum type="arabicPeriod"/>
              <a:defRPr sz="1100"/>
            </a:lvl3pPr>
            <a:lvl4pPr marL="795528" indent="-228600">
              <a:buClr>
                <a:schemeClr val="tx1"/>
              </a:buClr>
              <a:buFont typeface="+mj-lt"/>
              <a:buAutoNum type="arabicPeriod"/>
              <a:defRPr sz="1100"/>
            </a:lvl4pPr>
            <a:lvl5pPr marL="978408" indent="-228600">
              <a:buClr>
                <a:schemeClr val="tx1"/>
              </a:buClr>
              <a:buFont typeface="+mj-lt"/>
              <a:buAutoNum type="arabicPeriod"/>
              <a:defRPr sz="1100"/>
            </a:lvl5pPr>
          </a:lstStyle>
          <a:p>
            <a:pPr lvl="0"/>
            <a:r>
              <a:rPr lang="en-US" noProof="0"/>
              <a:t>Quote Goes Here</a:t>
            </a:r>
          </a:p>
        </p:txBody>
      </p:sp>
    </p:spTree>
    <p:extLst>
      <p:ext uri="{BB962C8B-B14F-4D97-AF65-F5344CB8AC3E}">
        <p14:creationId xmlns:p14="http://schemas.microsoft.com/office/powerpoint/2010/main" val="4184935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4/14/2021</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AA314B25-B4AF-394E-BBDA-7E6BAD315F39}"/>
              </a:ext>
            </a:extLst>
          </p:cNvPr>
          <p:cNvSpPr/>
          <p:nvPr userDrawn="1"/>
        </p:nvSpPr>
        <p:spPr>
          <a:xfrm>
            <a:off x="3351057" y="0"/>
            <a:ext cx="8840943"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37575EF-0D14-6140-A91B-260C9C9DFE41}"/>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10" name="Title Placeholder 1">
            <a:extLst>
              <a:ext uri="{FF2B5EF4-FFF2-40B4-BE49-F238E27FC236}">
                <a16:creationId xmlns:a16="http://schemas.microsoft.com/office/drawing/2014/main" id="{82544261-8049-494B-A93D-BDFF1BB84722}"/>
              </a:ext>
            </a:extLst>
          </p:cNvPr>
          <p:cNvSpPr>
            <a:spLocks noGrp="1"/>
          </p:cNvSpPr>
          <p:nvPr>
            <p:ph type="title" hasCustomPrompt="1"/>
          </p:nvPr>
        </p:nvSpPr>
        <p:spPr>
          <a:xfrm>
            <a:off x="635000" y="3135207"/>
            <a:ext cx="4886854" cy="587584"/>
          </a:xfrm>
          <a:prstGeom prst="rect">
            <a:avLst/>
          </a:prstGeom>
        </p:spPr>
        <p:txBody>
          <a:bodyPr vert="horz" lIns="91440" tIns="45720" rIns="91440" bIns="45720" rtlCol="0" anchor="ctr">
            <a:normAutofit/>
          </a:bodyPr>
          <a:lstStyle>
            <a:lvl1pPr algn="ctr">
              <a:defRPr cap="all" baseline="0"/>
            </a:lvl1pPr>
          </a:lstStyle>
          <a:p>
            <a:r>
              <a:rPr lang="en-US" noProof="0"/>
              <a:t>Title goes here</a:t>
            </a:r>
          </a:p>
        </p:txBody>
      </p:sp>
      <p:sp>
        <p:nvSpPr>
          <p:cNvPr id="12" name="Content Placeholder 3">
            <a:extLst>
              <a:ext uri="{FF2B5EF4-FFF2-40B4-BE49-F238E27FC236}">
                <a16:creationId xmlns:a16="http://schemas.microsoft.com/office/drawing/2014/main" id="{9214786D-83EE-814C-A5E4-D0EC7D29D0C4}"/>
              </a:ext>
            </a:extLst>
          </p:cNvPr>
          <p:cNvSpPr>
            <a:spLocks noGrp="1"/>
          </p:cNvSpPr>
          <p:nvPr>
            <p:ph sz="half" idx="2"/>
          </p:nvPr>
        </p:nvSpPr>
        <p:spPr>
          <a:xfrm>
            <a:off x="5575829" y="633875"/>
            <a:ext cx="5981171" cy="5590250"/>
          </a:xfrm>
        </p:spPr>
        <p:txBody>
          <a:bodyPr anchor="ctr">
            <a:normAutofit/>
          </a:bodyPr>
          <a:lstStyle>
            <a:lvl1pPr marL="342900" indent="-342900">
              <a:buClr>
                <a:schemeClr val="tx1"/>
              </a:buClr>
              <a:buFont typeface="+mj-lt"/>
              <a:buAutoNum type="arabicPeriod"/>
              <a:defRPr sz="1600">
                <a:solidFill>
                  <a:schemeClr val="tx1"/>
                </a:solidFill>
              </a:defRPr>
            </a:lvl1pPr>
            <a:lvl2pPr marL="544068" indent="-342900">
              <a:buClr>
                <a:schemeClr val="tx1"/>
              </a:buClr>
              <a:buFont typeface="+mj-lt"/>
              <a:buAutoNum type="arabicPeriod"/>
              <a:defRPr sz="1400">
                <a:solidFill>
                  <a:schemeClr val="tx1"/>
                </a:solidFill>
              </a:defRPr>
            </a:lvl2pPr>
            <a:lvl3pPr marL="612648" indent="-228600">
              <a:buClr>
                <a:schemeClr val="tx1"/>
              </a:buClr>
              <a:buFont typeface="+mj-lt"/>
              <a:buAutoNum type="arabicPeriod"/>
              <a:defRPr sz="1100">
                <a:solidFill>
                  <a:schemeClr val="tx1"/>
                </a:solidFill>
              </a:defRPr>
            </a:lvl3pPr>
            <a:lvl4pPr marL="795528" indent="-228600">
              <a:buClr>
                <a:schemeClr val="tx1"/>
              </a:buClr>
              <a:buFont typeface="+mj-lt"/>
              <a:buAutoNum type="arabicPeriod"/>
              <a:defRPr sz="1100">
                <a:solidFill>
                  <a:schemeClr val="tx1"/>
                </a:solidFill>
              </a:defRPr>
            </a:lvl4pPr>
            <a:lvl5pPr marL="978408" indent="-228600">
              <a:buClr>
                <a:schemeClr val="tx1"/>
              </a:buClr>
              <a:buFont typeface="+mj-lt"/>
              <a:buAutoNum type="arabicPeriod"/>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79185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noProof="0" smtClean="0"/>
              <a:t>4/14/2021</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5" name="Rectangle">
            <a:extLst>
              <a:ext uri="{FF2B5EF4-FFF2-40B4-BE49-F238E27FC236}">
                <a16:creationId xmlns:a16="http://schemas.microsoft.com/office/drawing/2014/main" id="{2E148DD3-DD87-154B-80B4-2421965D3C83}"/>
              </a:ext>
            </a:extLst>
          </p:cNvPr>
          <p:cNvSpPr/>
          <p:nvPr userDrawn="1"/>
        </p:nvSpPr>
        <p:spPr>
          <a:xfrm>
            <a:off x="1" y="1714500"/>
            <a:ext cx="12192000" cy="3429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6" name="Rectangle">
            <a:extLst>
              <a:ext uri="{FF2B5EF4-FFF2-40B4-BE49-F238E27FC236}">
                <a16:creationId xmlns:a16="http://schemas.microsoft.com/office/drawing/2014/main" id="{742E4732-0E8F-7B46-BD08-0F2EE0DA8786}"/>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7" name="Title Placeholder 1">
            <a:extLst>
              <a:ext uri="{FF2B5EF4-FFF2-40B4-BE49-F238E27FC236}">
                <a16:creationId xmlns:a16="http://schemas.microsoft.com/office/drawing/2014/main" id="{6E73F81A-7260-5C4F-A7FF-CA2CC731BC33}"/>
              </a:ext>
            </a:extLst>
          </p:cNvPr>
          <p:cNvSpPr>
            <a:spLocks noGrp="1"/>
          </p:cNvSpPr>
          <p:nvPr>
            <p:ph type="title" hasCustomPrompt="1"/>
          </p:nvPr>
        </p:nvSpPr>
        <p:spPr>
          <a:xfrm>
            <a:off x="5443870" y="942871"/>
            <a:ext cx="5711810" cy="587584"/>
          </a:xfrm>
          <a:prstGeom prst="rect">
            <a:avLst/>
          </a:prstGeom>
        </p:spPr>
        <p:txBody>
          <a:bodyPr vert="horz" lIns="91440" tIns="45720" rIns="91440" bIns="45720" rtlCol="0" anchor="ctr">
            <a:normAutofit/>
          </a:bodyPr>
          <a:lstStyle/>
          <a:p>
            <a:r>
              <a:rPr lang="en-US" noProof="0"/>
              <a:t>CLICK TO EDIT MASTER TITLE STYLE</a:t>
            </a:r>
          </a:p>
        </p:txBody>
      </p:sp>
      <p:sp>
        <p:nvSpPr>
          <p:cNvPr id="9" name="Content Placeholder 3">
            <a:extLst>
              <a:ext uri="{FF2B5EF4-FFF2-40B4-BE49-F238E27FC236}">
                <a16:creationId xmlns:a16="http://schemas.microsoft.com/office/drawing/2014/main" id="{4CD13CD4-3E4F-2E41-ACF4-2446257D236F}"/>
              </a:ext>
            </a:extLst>
          </p:cNvPr>
          <p:cNvSpPr>
            <a:spLocks noGrp="1"/>
          </p:cNvSpPr>
          <p:nvPr>
            <p:ph sz="half" idx="2"/>
          </p:nvPr>
        </p:nvSpPr>
        <p:spPr>
          <a:xfrm>
            <a:off x="5443870" y="1973589"/>
            <a:ext cx="5711810" cy="3941540"/>
          </a:xfrm>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Content Placeholder 3">
            <a:extLst>
              <a:ext uri="{FF2B5EF4-FFF2-40B4-BE49-F238E27FC236}">
                <a16:creationId xmlns:a16="http://schemas.microsoft.com/office/drawing/2014/main" id="{D8E69886-8907-DB47-87C2-0621AF156D9F}"/>
              </a:ext>
            </a:extLst>
          </p:cNvPr>
          <p:cNvSpPr>
            <a:spLocks noGrp="1"/>
          </p:cNvSpPr>
          <p:nvPr>
            <p:ph sz="half" idx="14"/>
          </p:nvPr>
        </p:nvSpPr>
        <p:spPr>
          <a:xfrm>
            <a:off x="605170" y="621039"/>
            <a:ext cx="4589130" cy="5603086"/>
          </a:xfrm>
          <a:solidFill>
            <a:srgbClr val="EDEFF7"/>
          </a:solidFill>
        </p:spPr>
        <p:txBody>
          <a:bodyPr>
            <a:normAutofit/>
          </a:bodyPr>
          <a:lstStyle>
            <a:lvl1pPr>
              <a:buClr>
                <a:schemeClr val="tx1"/>
              </a:buClr>
              <a:defRPr sz="1600">
                <a:solidFill>
                  <a:schemeClr val="tx1"/>
                </a:solidFill>
              </a:defRPr>
            </a:lvl1pPr>
            <a:lvl2pPr marL="384048" indent="-182880">
              <a:buClr>
                <a:schemeClr val="tx1"/>
              </a:buClr>
              <a:buFont typeface="Arial" panose="020B0604020202020204" pitchFamily="34" charset="0"/>
              <a:buChar char="•"/>
              <a:defRPr sz="1400">
                <a:solidFill>
                  <a:schemeClr val="tx1"/>
                </a:solidFill>
              </a:defRPr>
            </a:lvl2pPr>
            <a:lvl3pPr marL="566928" indent="-182880">
              <a:buClr>
                <a:schemeClr val="tx1"/>
              </a:buClr>
              <a:buFont typeface="Arial" panose="020B0604020202020204" pitchFamily="34" charset="0"/>
              <a:buChar char="•"/>
              <a:defRPr sz="1100">
                <a:solidFill>
                  <a:schemeClr val="tx1"/>
                </a:solidFill>
              </a:defRPr>
            </a:lvl3pPr>
            <a:lvl4pPr marL="749808" indent="-182880">
              <a:buClr>
                <a:schemeClr val="tx1"/>
              </a:buClr>
              <a:buFont typeface="Arial" panose="020B0604020202020204" pitchFamily="34" charset="0"/>
              <a:buChar char="•"/>
              <a:defRPr sz="1100">
                <a:solidFill>
                  <a:schemeClr val="tx1"/>
                </a:solidFill>
              </a:defRPr>
            </a:lvl4pPr>
            <a:lvl5pPr marL="932688" indent="-182880">
              <a:buClr>
                <a:schemeClr val="tx1"/>
              </a:buClr>
              <a:buFont typeface="Arial" panose="020B0604020202020204" pitchFamily="34" charset="0"/>
              <a:buChar char="•"/>
              <a:defRPr sz="11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6310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9C88DF2D-0421-A94C-82C1-867E1E5E4907}"/>
              </a:ext>
            </a:extLst>
          </p:cNvPr>
          <p:cNvSpPr/>
          <p:nvPr userDrawn="1"/>
        </p:nvSpPr>
        <p:spPr>
          <a:xfrm>
            <a:off x="10993582" y="0"/>
            <a:ext cx="1198418" cy="6858000"/>
          </a:xfrm>
          <a:prstGeom prst="rect">
            <a:avLst/>
          </a:prstGeom>
          <a:solidFill>
            <a:schemeClr val="accent4"/>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lang="en-US" sz="1600" noProof="0" dirty="0"/>
          </a:p>
        </p:txBody>
      </p:sp>
      <p:sp>
        <p:nvSpPr>
          <p:cNvPr id="10" name="Rectangle">
            <a:extLst>
              <a:ext uri="{FF2B5EF4-FFF2-40B4-BE49-F238E27FC236}">
                <a16:creationId xmlns:a16="http://schemas.microsoft.com/office/drawing/2014/main" id="{334D05A3-7A20-9447-8D39-F2980D85413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8" name="Rectangle 7">
            <a:extLst>
              <a:ext uri="{FF2B5EF4-FFF2-40B4-BE49-F238E27FC236}">
                <a16:creationId xmlns:a16="http://schemas.microsoft.com/office/drawing/2014/main" id="{DA134939-39C0-4522-A125-A13DFDA66490}"/>
              </a:ext>
            </a:extLst>
          </p:cNvPr>
          <p:cNvSpPr/>
          <p:nvPr/>
        </p:nvSpPr>
        <p:spPr>
          <a:xfrm>
            <a:off x="634999" y="3927894"/>
            <a:ext cx="10922000" cy="2326856"/>
          </a:xfrm>
          <a:prstGeom prst="rect">
            <a:avLst/>
          </a:prstGeom>
          <a:solidFill>
            <a:srgbClr val="F6F9F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35001" y="603250"/>
            <a:ext cx="10921998" cy="3294019"/>
          </a:xfrm>
          <a:solidFill>
            <a:schemeClr val="bg1"/>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 name="Title 1"/>
          <p:cNvSpPr>
            <a:spLocks noGrp="1"/>
          </p:cNvSpPr>
          <p:nvPr>
            <p:ph type="title"/>
          </p:nvPr>
        </p:nvSpPr>
        <p:spPr>
          <a:xfrm>
            <a:off x="1097279" y="4298078"/>
            <a:ext cx="10113645" cy="743682"/>
          </a:xfrm>
          <a:prstGeom prst="rect">
            <a:avLst/>
          </a:prstGeom>
        </p:spPr>
        <p:txBody>
          <a:bodyPr tIns="0" bIns="0" anchor="b">
            <a:noAutofit/>
          </a:bodyPr>
          <a:lstStyle>
            <a:lvl1pPr>
              <a:defRPr sz="3600" b="0">
                <a:solidFill>
                  <a:schemeClr val="tx1"/>
                </a:solidFill>
              </a:defRPr>
            </a:lvl1pPr>
          </a:lstStyle>
          <a:p>
            <a:r>
              <a:rPr lang="en-US" noProof="0"/>
              <a:t>Click to edit Master title style</a:t>
            </a:r>
          </a:p>
        </p:txBody>
      </p:sp>
      <p:sp>
        <p:nvSpPr>
          <p:cNvPr id="4" name="Text Placeholder 3"/>
          <p:cNvSpPr>
            <a:spLocks noGrp="1"/>
          </p:cNvSpPr>
          <p:nvPr>
            <p:ph type="body" sz="half" idx="2"/>
          </p:nvPr>
        </p:nvSpPr>
        <p:spPr>
          <a:xfrm>
            <a:off x="1097279" y="5213716"/>
            <a:ext cx="10113264" cy="609600"/>
          </a:xfrm>
        </p:spPr>
        <p:txBody>
          <a:bodyPr lIns="91440" tIns="0" rIns="91440" bIns="0">
            <a:normAutofit/>
          </a:bodyPr>
          <a:lstStyle>
            <a:lvl1pPr marL="0" indent="0">
              <a:spcBef>
                <a:spcPts val="0"/>
              </a:spcBef>
              <a:spcAft>
                <a:spcPts val="600"/>
              </a:spcAft>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noProof="0" smtClean="0"/>
              <a:t>4/14/2021</a:t>
            </a:fld>
            <a:endParaRPr lang="en-US" noProof="0"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noProof="0" dirty="0"/>
          </a:p>
        </p:txBody>
      </p:sp>
      <p:sp>
        <p:nvSpPr>
          <p:cNvPr id="7" name="Slide Number Placeholder 6"/>
          <p:cNvSpPr>
            <a:spLocks noGrp="1"/>
          </p:cNvSpPr>
          <p:nvPr>
            <p:ph type="sldNum" sz="quarter" idx="12"/>
          </p:nvPr>
        </p:nvSpPr>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4046387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1552108B-1F90-0044-A7D4-0956E919F29A}"/>
              </a:ext>
            </a:extLst>
          </p:cNvPr>
          <p:cNvSpPr/>
          <p:nvPr userDrawn="1"/>
        </p:nvSpPr>
        <p:spPr>
          <a:xfrm>
            <a:off x="635000" y="633875"/>
            <a:ext cx="10922000" cy="5590250"/>
          </a:xfrm>
          <a:prstGeom prst="rect">
            <a:avLst/>
          </a:prstGeom>
          <a:solidFill>
            <a:srgbClr val="F6F9FF"/>
          </a:solidFill>
          <a:ln w="12700">
            <a:noFill/>
            <a:miter lim="400000"/>
          </a:ln>
          <a:effectLst>
            <a:outerShdw blurRad="254000" dist="25400" dir="2700000" rotWithShape="0">
              <a:srgbClr val="1F2125">
                <a:alpha val="15000"/>
              </a:srgbClr>
            </a:outerShdw>
          </a:effectLst>
        </p:spPr>
        <p:txBody>
          <a:bodyPr lIns="0" tIns="0" rIns="0" bIns="0" anchor="ctr"/>
          <a:lstStyle/>
          <a:p>
            <a:pPr>
              <a:defRPr sz="3200" b="0">
                <a:solidFill>
                  <a:srgbClr val="E8ECF2"/>
                </a:solidFill>
                <a:latin typeface="+mn-lt"/>
                <a:ea typeface="+mn-ea"/>
                <a:cs typeface="+mn-cs"/>
                <a:sym typeface="Helvetica Neue Medium"/>
              </a:defRPr>
            </a:pPr>
            <a:endParaRPr lang="en-US" sz="1600" noProof="0" dirty="0"/>
          </a:p>
        </p:txBody>
      </p:sp>
      <p:sp>
        <p:nvSpPr>
          <p:cNvPr id="2" name="Title Placeholder 1"/>
          <p:cNvSpPr>
            <a:spLocks noGrp="1"/>
          </p:cNvSpPr>
          <p:nvPr>
            <p:ph type="title"/>
          </p:nvPr>
        </p:nvSpPr>
        <p:spPr>
          <a:xfrm>
            <a:off x="1097280" y="942871"/>
            <a:ext cx="10058400" cy="587584"/>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noProof="0" smtClean="0"/>
              <a:t>4/14/2021</a:t>
            </a:fld>
            <a:endParaRPr lang="en-US" noProof="0"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noProof="0"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1394360962"/>
      </p:ext>
    </p:extLst>
  </p:cSld>
  <p:clrMap bg1="lt1" tx1="dk1" bg2="lt2" tx2="dk2" accent1="accent1" accent2="accent2" accent3="accent3" accent4="accent4" accent5="accent5" accent6="accent6" hlink="hlink" folHlink="folHlink"/>
  <p:sldLayoutIdLst>
    <p:sldLayoutId id="2147483674" r:id="rId1"/>
    <p:sldLayoutId id="2147483693" r:id="rId2"/>
    <p:sldLayoutId id="2147483675" r:id="rId3"/>
    <p:sldLayoutId id="2147483684" r:id="rId4"/>
    <p:sldLayoutId id="2147483678" r:id="rId5"/>
    <p:sldLayoutId id="2147483688" r:id="rId6"/>
    <p:sldLayoutId id="2147483679" r:id="rId7"/>
    <p:sldLayoutId id="2147483692" r:id="rId8"/>
    <p:sldLayoutId id="2147483691" r:id="rId9"/>
    <p:sldLayoutId id="2147483690" r:id="rId10"/>
    <p:sldLayoutId id="2147483689" r:id="rId11"/>
    <p:sldLayoutId id="2147483683" r:id="rId12"/>
  </p:sldLayoutIdLst>
  <p:hf sldNum="0" hdr="0" ftr="0" dt="0"/>
  <p:txStyles>
    <p:titleStyle>
      <a:lvl1pPr algn="l" defTabSz="914400" rtl="0" eaLnBrk="1" latinLnBrk="0" hangingPunct="1">
        <a:lnSpc>
          <a:spcPct val="90000"/>
        </a:lnSpc>
        <a:spcBef>
          <a:spcPct val="0"/>
        </a:spcBef>
        <a:buNone/>
        <a:defRPr sz="2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hyperlink" Target="mailto:eadessn@mail.uc.edu"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7AEFB0-51F2-5449-996C-73382891D2F9}"/>
              </a:ext>
            </a:extLst>
          </p:cNvPr>
          <p:cNvSpPr>
            <a:spLocks noGrp="1"/>
          </p:cNvSpPr>
          <p:nvPr>
            <p:ph type="ctrTitle"/>
          </p:nvPr>
        </p:nvSpPr>
        <p:spPr>
          <a:xfrm>
            <a:off x="1066800" y="1028700"/>
            <a:ext cx="10058400" cy="1371854"/>
          </a:xfrm>
        </p:spPr>
        <p:txBody>
          <a:bodyPr>
            <a:normAutofit/>
          </a:bodyPr>
          <a:lstStyle/>
          <a:p>
            <a:pPr algn="ctr"/>
            <a:r>
              <a:rPr lang="en-US" sz="4400" dirty="0">
                <a:solidFill>
                  <a:schemeClr val="tx1"/>
                </a:solidFill>
              </a:rPr>
              <a:t>The Practicality of Decentralized Smart Contracts</a:t>
            </a:r>
          </a:p>
        </p:txBody>
      </p:sp>
      <p:sp>
        <p:nvSpPr>
          <p:cNvPr id="5" name="Subtitle 4">
            <a:extLst>
              <a:ext uri="{FF2B5EF4-FFF2-40B4-BE49-F238E27FC236}">
                <a16:creationId xmlns:a16="http://schemas.microsoft.com/office/drawing/2014/main" id="{B0F6D6CF-8D73-6643-A348-53AAE29FD1C2}"/>
              </a:ext>
            </a:extLst>
          </p:cNvPr>
          <p:cNvSpPr>
            <a:spLocks noGrp="1"/>
          </p:cNvSpPr>
          <p:nvPr>
            <p:ph type="subTitle" idx="1"/>
          </p:nvPr>
        </p:nvSpPr>
        <p:spPr>
          <a:xfrm>
            <a:off x="1097280" y="2730500"/>
            <a:ext cx="10058400" cy="3238500"/>
          </a:xfrm>
        </p:spPr>
        <p:txBody>
          <a:bodyPr>
            <a:normAutofit fontScale="77500" lnSpcReduction="20000"/>
          </a:bodyPr>
          <a:lstStyle/>
          <a:p>
            <a:pPr algn="ctr">
              <a:lnSpc>
                <a:spcPct val="100000"/>
              </a:lnSpc>
            </a:pPr>
            <a:r>
              <a:rPr lang="en-US" b="1" dirty="0"/>
              <a:t>IT8010: IT PROJECT SPRING 2021</a:t>
            </a:r>
          </a:p>
          <a:p>
            <a:pPr algn="ctr">
              <a:lnSpc>
                <a:spcPct val="100000"/>
              </a:lnSpc>
            </a:pPr>
            <a:endParaRPr lang="en-US" b="1" dirty="0"/>
          </a:p>
          <a:p>
            <a:pPr algn="ctr">
              <a:lnSpc>
                <a:spcPct val="100000"/>
              </a:lnSpc>
            </a:pPr>
            <a:r>
              <a:rPr lang="en-US" b="1" dirty="0"/>
              <a:t>SUBMITTED TO:</a:t>
            </a:r>
          </a:p>
          <a:p>
            <a:pPr algn="ctr">
              <a:lnSpc>
                <a:spcPct val="100000"/>
              </a:lnSpc>
            </a:pPr>
            <a:r>
              <a:rPr lang="en-US" b="1" dirty="0"/>
              <a:t>DR. MURAT OZER</a:t>
            </a:r>
          </a:p>
          <a:p>
            <a:pPr algn="ctr">
              <a:lnSpc>
                <a:spcPct val="100000"/>
              </a:lnSpc>
            </a:pPr>
            <a:endParaRPr lang="en-US" sz="2100" b="1" dirty="0"/>
          </a:p>
          <a:p>
            <a:pPr algn="ctr">
              <a:lnSpc>
                <a:spcPct val="100000"/>
              </a:lnSpc>
            </a:pPr>
            <a:r>
              <a:rPr lang="en-US" sz="2400" b="1" dirty="0"/>
              <a:t>BY:</a:t>
            </a:r>
          </a:p>
          <a:p>
            <a:pPr algn="ctr">
              <a:lnSpc>
                <a:spcPct val="100000"/>
              </a:lnSpc>
            </a:pPr>
            <a:r>
              <a:rPr lang="en-US" b="1" dirty="0"/>
              <a:t>Stephen Eades</a:t>
            </a:r>
          </a:p>
          <a:p>
            <a:pPr algn="ctr">
              <a:lnSpc>
                <a:spcPct val="100000"/>
              </a:lnSpc>
            </a:pPr>
            <a:r>
              <a:rPr lang="en-US" sz="2400" b="1" dirty="0"/>
              <a:t>eadessn@mail.uc.edu</a:t>
            </a:r>
            <a:endParaRPr lang="en-US" sz="2400" dirty="0"/>
          </a:p>
        </p:txBody>
      </p:sp>
    </p:spTree>
    <p:extLst>
      <p:ext uri="{BB962C8B-B14F-4D97-AF65-F5344CB8AC3E}">
        <p14:creationId xmlns:p14="http://schemas.microsoft.com/office/powerpoint/2010/main" val="1833365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A9AC8-EA60-644D-9DDA-B76203EA1E87}"/>
              </a:ext>
            </a:extLst>
          </p:cNvPr>
          <p:cNvSpPr>
            <a:spLocks noGrp="1"/>
          </p:cNvSpPr>
          <p:nvPr>
            <p:ph type="title"/>
          </p:nvPr>
        </p:nvSpPr>
        <p:spPr/>
        <p:txBody>
          <a:bodyPr/>
          <a:lstStyle/>
          <a:p>
            <a:r>
              <a:rPr lang="en-US" dirty="0">
                <a:solidFill>
                  <a:schemeClr val="tx1"/>
                </a:solidFill>
              </a:rPr>
              <a:t>OUTLINE</a:t>
            </a:r>
          </a:p>
        </p:txBody>
      </p:sp>
      <p:sp>
        <p:nvSpPr>
          <p:cNvPr id="17" name="Content Placeholder 16">
            <a:extLst>
              <a:ext uri="{FF2B5EF4-FFF2-40B4-BE49-F238E27FC236}">
                <a16:creationId xmlns:a16="http://schemas.microsoft.com/office/drawing/2014/main" id="{8E7591AD-81F4-2E45-AE36-F4DA40C19031}"/>
              </a:ext>
            </a:extLst>
          </p:cNvPr>
          <p:cNvSpPr>
            <a:spLocks noGrp="1"/>
          </p:cNvSpPr>
          <p:nvPr>
            <p:ph sz="half" idx="2"/>
          </p:nvPr>
        </p:nvSpPr>
        <p:spPr/>
        <p:txBody>
          <a:bodyPr/>
          <a:lstStyle/>
          <a:p>
            <a:r>
              <a:rPr lang="en-US" dirty="0"/>
              <a:t>Synopsis</a:t>
            </a:r>
          </a:p>
          <a:p>
            <a:r>
              <a:rPr lang="en-US" dirty="0"/>
              <a:t>Research Questions</a:t>
            </a:r>
          </a:p>
          <a:p>
            <a:r>
              <a:rPr lang="en-US" dirty="0"/>
              <a:t>Problem Statement</a:t>
            </a:r>
          </a:p>
          <a:p>
            <a:r>
              <a:rPr lang="en-US" dirty="0"/>
              <a:t>Architecture &amp; Engineering</a:t>
            </a:r>
          </a:p>
          <a:p>
            <a:r>
              <a:rPr lang="en-US" dirty="0"/>
              <a:t>User Experience &amp; Interface</a:t>
            </a:r>
          </a:p>
          <a:p>
            <a:r>
              <a:rPr lang="en-US" dirty="0"/>
              <a:t>Application Demo</a:t>
            </a:r>
          </a:p>
          <a:p>
            <a:r>
              <a:rPr lang="en-US" dirty="0"/>
              <a:t>Evaluation Metrics</a:t>
            </a:r>
          </a:p>
          <a:p>
            <a:r>
              <a:rPr lang="en-US" dirty="0"/>
              <a:t>Data Insights</a:t>
            </a:r>
          </a:p>
          <a:p>
            <a:r>
              <a:rPr lang="en-US" dirty="0"/>
              <a:t>Analysis</a:t>
            </a:r>
          </a:p>
          <a:p>
            <a:r>
              <a:rPr lang="en-US" dirty="0"/>
              <a:t>Conclusion</a:t>
            </a:r>
          </a:p>
        </p:txBody>
      </p:sp>
    </p:spTree>
    <p:extLst>
      <p:ext uri="{BB962C8B-B14F-4D97-AF65-F5344CB8AC3E}">
        <p14:creationId xmlns:p14="http://schemas.microsoft.com/office/powerpoint/2010/main" val="2276898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00900CD-B943-934F-857F-30AA913FE9D9}"/>
              </a:ext>
            </a:extLst>
          </p:cNvPr>
          <p:cNvSpPr>
            <a:spLocks noGrp="1"/>
          </p:cNvSpPr>
          <p:nvPr>
            <p:ph type="title"/>
          </p:nvPr>
        </p:nvSpPr>
        <p:spPr/>
        <p:txBody>
          <a:bodyPr/>
          <a:lstStyle/>
          <a:p>
            <a:r>
              <a:rPr lang="en-US" dirty="0"/>
              <a:t>Synopsis</a:t>
            </a:r>
          </a:p>
        </p:txBody>
      </p:sp>
      <p:sp>
        <p:nvSpPr>
          <p:cNvPr id="12" name="Content Placeholder 11">
            <a:extLst>
              <a:ext uri="{FF2B5EF4-FFF2-40B4-BE49-F238E27FC236}">
                <a16:creationId xmlns:a16="http://schemas.microsoft.com/office/drawing/2014/main" id="{2A09EEBC-5E2C-D240-A5D6-6952B8392E49}"/>
              </a:ext>
            </a:extLst>
          </p:cNvPr>
          <p:cNvSpPr>
            <a:spLocks noGrp="1"/>
          </p:cNvSpPr>
          <p:nvPr>
            <p:ph sz="half" idx="2"/>
          </p:nvPr>
        </p:nvSpPr>
        <p:spPr>
          <a:xfrm>
            <a:off x="1195754" y="2281657"/>
            <a:ext cx="9802446" cy="3633471"/>
          </a:xfrm>
        </p:spPr>
        <p:txBody>
          <a:bodyPr>
            <a:normAutofit/>
          </a:bodyPr>
          <a:lstStyle/>
          <a:p>
            <a:r>
              <a:rPr lang="en-US" dirty="0"/>
              <a:t>The growth of blockchain technology has facilitated the discussion of decentralized systems going mainstream. One of the most popular and mature decentralized platforms is Ethereum. This project evaluates the use of decentralized applications (dapps) and smart contracts built on Ethereum. Using a dapp I developed, we examine the transaction costs and feasibility of utilizing such a dapp for common events such as a poll, escrow service, or lottery. </a:t>
            </a:r>
          </a:p>
          <a:p>
            <a:r>
              <a:rPr lang="en-US" dirty="0"/>
              <a:t>Transaction information was pulled from Ganache and Truffle, two tools for working with Ethereum, and analyzed using Pandas and matplotlib within a Jupyter Notebook. The data analysis shows that although these events can be processed successfully and securely, transaction costs are far too high for a regular user to interact with them effectively. Comparisons supported that several factors influence transaction costs, mainly the price fluctuation of Ethereum's native token (Ether), and the amount of data being supplied as input to the transactions. This gave insight on the challenges and limitations of current decentralized applications and smart contracts.</a:t>
            </a:r>
          </a:p>
        </p:txBody>
      </p:sp>
    </p:spTree>
    <p:extLst>
      <p:ext uri="{BB962C8B-B14F-4D97-AF65-F5344CB8AC3E}">
        <p14:creationId xmlns:p14="http://schemas.microsoft.com/office/powerpoint/2010/main" val="1255359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59CD-1242-F149-AB16-9D02E7C89131}"/>
              </a:ext>
            </a:extLst>
          </p:cNvPr>
          <p:cNvSpPr>
            <a:spLocks noGrp="1"/>
          </p:cNvSpPr>
          <p:nvPr>
            <p:ph type="title"/>
          </p:nvPr>
        </p:nvSpPr>
        <p:spPr>
          <a:xfrm>
            <a:off x="1394932" y="1091727"/>
            <a:ext cx="5711810" cy="587584"/>
          </a:xfrm>
        </p:spPr>
        <p:txBody>
          <a:bodyPr/>
          <a:lstStyle/>
          <a:p>
            <a:r>
              <a:rPr lang="en-US" dirty="0"/>
              <a:t>RESEARCH QUESTIONS</a:t>
            </a:r>
          </a:p>
        </p:txBody>
      </p:sp>
      <p:sp>
        <p:nvSpPr>
          <p:cNvPr id="3" name="Content Placeholder 2">
            <a:extLst>
              <a:ext uri="{FF2B5EF4-FFF2-40B4-BE49-F238E27FC236}">
                <a16:creationId xmlns:a16="http://schemas.microsoft.com/office/drawing/2014/main" id="{79497D95-D925-3641-A715-DB7630E983B0}"/>
              </a:ext>
            </a:extLst>
          </p:cNvPr>
          <p:cNvSpPr>
            <a:spLocks noGrp="1"/>
          </p:cNvSpPr>
          <p:nvPr>
            <p:ph sz="half" idx="2"/>
          </p:nvPr>
        </p:nvSpPr>
        <p:spPr>
          <a:xfrm>
            <a:off x="1394932" y="1973589"/>
            <a:ext cx="8695366" cy="3980644"/>
          </a:xfrm>
        </p:spPr>
        <p:txBody>
          <a:bodyPr/>
          <a:lstStyle/>
          <a:p>
            <a:pPr marL="342900" indent="-342900">
              <a:buFont typeface="+mj-lt"/>
              <a:buAutoNum type="arabicPeriod"/>
            </a:pPr>
            <a:r>
              <a:rPr lang="en-US" dirty="0"/>
              <a:t>What are the associated transaction costs of interacting with a decentralized application on Ethereum</a:t>
            </a:r>
          </a:p>
          <a:p>
            <a:pPr marL="342900" indent="-342900">
              <a:buFont typeface="+mj-lt"/>
              <a:buAutoNum type="arabicPeriod"/>
            </a:pPr>
            <a:r>
              <a:rPr lang="en-US" dirty="0"/>
              <a:t>What factors influence the transaction costs on a decentralized application?</a:t>
            </a:r>
          </a:p>
          <a:p>
            <a:pPr marL="342900" indent="-342900">
              <a:buFont typeface="+mj-lt"/>
              <a:buAutoNum type="arabicPeriod"/>
            </a:pPr>
            <a:r>
              <a:rPr lang="en-US" dirty="0"/>
              <a:t>Can a decentralized application effectively handle everyday events that require trust?</a:t>
            </a:r>
          </a:p>
          <a:p>
            <a:pPr marL="342900" indent="-342900">
              <a:buFont typeface="+mj-lt"/>
              <a:buAutoNum type="arabicPeriod"/>
            </a:pPr>
            <a:endParaRPr lang="en-US" dirty="0"/>
          </a:p>
        </p:txBody>
      </p:sp>
    </p:spTree>
    <p:extLst>
      <p:ext uri="{BB962C8B-B14F-4D97-AF65-F5344CB8AC3E}">
        <p14:creationId xmlns:p14="http://schemas.microsoft.com/office/powerpoint/2010/main" val="4176208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D850AAA-B77D-4000-A143-0539464CCB02}"/>
              </a:ext>
            </a:extLst>
          </p:cNvPr>
          <p:cNvSpPr>
            <a:spLocks noGrp="1"/>
          </p:cNvSpPr>
          <p:nvPr>
            <p:ph type="body" idx="1"/>
          </p:nvPr>
        </p:nvSpPr>
        <p:spPr/>
        <p:txBody>
          <a:bodyPr/>
          <a:lstStyle/>
          <a:p>
            <a:r>
              <a:rPr lang="en-US" dirty="0"/>
              <a:t>High transaction Costs</a:t>
            </a:r>
          </a:p>
        </p:txBody>
      </p:sp>
      <p:sp>
        <p:nvSpPr>
          <p:cNvPr id="3" name="Content Placeholder 2">
            <a:extLst>
              <a:ext uri="{FF2B5EF4-FFF2-40B4-BE49-F238E27FC236}">
                <a16:creationId xmlns:a16="http://schemas.microsoft.com/office/drawing/2014/main" id="{6AB250FE-08C8-4530-B722-29C38A359D8B}"/>
              </a:ext>
            </a:extLst>
          </p:cNvPr>
          <p:cNvSpPr>
            <a:spLocks noGrp="1"/>
          </p:cNvSpPr>
          <p:nvPr>
            <p:ph sz="half" idx="2"/>
          </p:nvPr>
        </p:nvSpPr>
        <p:spPr/>
        <p:txBody>
          <a:bodyPr>
            <a:normAutofit lnSpcReduction="10000"/>
          </a:bodyPr>
          <a:lstStyle/>
          <a:p>
            <a:r>
              <a:rPr lang="en-US" dirty="0">
                <a:solidFill>
                  <a:schemeClr val="tx1"/>
                </a:solidFill>
              </a:rPr>
              <a:t>Smart contracts and decentralized applications on the Ethereum Blockchain have been a major point of focus in the newfound industry. However, there has yet to be major usage of decentralized applications by the general population. One concern is that the current costs associated with making transactions on a blockchain can be exorbitantly high, as scaling and protocol solutions are still being implemented. These high costs likely drive potential users away from decentralized systems.</a:t>
            </a:r>
          </a:p>
        </p:txBody>
      </p:sp>
      <p:sp>
        <p:nvSpPr>
          <p:cNvPr id="5" name="Text Placeholder 4">
            <a:extLst>
              <a:ext uri="{FF2B5EF4-FFF2-40B4-BE49-F238E27FC236}">
                <a16:creationId xmlns:a16="http://schemas.microsoft.com/office/drawing/2014/main" id="{3CDA0F0A-8BBE-4720-8A8F-47FD935FA9E8}"/>
              </a:ext>
            </a:extLst>
          </p:cNvPr>
          <p:cNvSpPr>
            <a:spLocks noGrp="1"/>
          </p:cNvSpPr>
          <p:nvPr>
            <p:ph type="body" sz="quarter" idx="3"/>
          </p:nvPr>
        </p:nvSpPr>
        <p:spPr/>
        <p:txBody>
          <a:bodyPr/>
          <a:lstStyle/>
          <a:p>
            <a:r>
              <a:rPr lang="en-US" dirty="0"/>
              <a:t>Limited Use cases</a:t>
            </a:r>
          </a:p>
        </p:txBody>
      </p:sp>
      <p:sp>
        <p:nvSpPr>
          <p:cNvPr id="6" name="Content Placeholder 5">
            <a:extLst>
              <a:ext uri="{FF2B5EF4-FFF2-40B4-BE49-F238E27FC236}">
                <a16:creationId xmlns:a16="http://schemas.microsoft.com/office/drawing/2014/main" id="{1163EFDC-D9E5-4185-9B8F-C3C93FF516E1}"/>
              </a:ext>
            </a:extLst>
          </p:cNvPr>
          <p:cNvSpPr>
            <a:spLocks noGrp="1"/>
          </p:cNvSpPr>
          <p:nvPr>
            <p:ph sz="quarter" idx="4"/>
          </p:nvPr>
        </p:nvSpPr>
        <p:spPr/>
        <p:txBody>
          <a:bodyPr/>
          <a:lstStyle/>
          <a:p>
            <a:r>
              <a:rPr lang="en-US" dirty="0">
                <a:solidFill>
                  <a:schemeClr val="tx1"/>
                </a:solidFill>
              </a:rPr>
              <a:t>Another issue is that a majority of existing dapps are limited in their use cases. Decentralized exchanges (DEXs) and decentralized lending and money markets, also known as Decentralized Finance (Defi), dominate the current dapp ecosystem. Most users of these dapps are wealthy individuals and institutional investors looking for liquidity, arbitrage, and investment opportunities.</a:t>
            </a:r>
          </a:p>
          <a:p>
            <a:endParaRPr lang="en-US" dirty="0">
              <a:solidFill>
                <a:schemeClr val="tx1"/>
              </a:solidFill>
            </a:endParaRPr>
          </a:p>
        </p:txBody>
      </p:sp>
      <p:sp>
        <p:nvSpPr>
          <p:cNvPr id="2" name="Title 1">
            <a:extLst>
              <a:ext uri="{FF2B5EF4-FFF2-40B4-BE49-F238E27FC236}">
                <a16:creationId xmlns:a16="http://schemas.microsoft.com/office/drawing/2014/main" id="{CDC62B56-74BF-47D4-B1CD-AF93A810B3B7}"/>
              </a:ext>
            </a:extLst>
          </p:cNvPr>
          <p:cNvSpPr>
            <a:spLocks noGrp="1"/>
          </p:cNvSpPr>
          <p:nvPr>
            <p:ph type="title"/>
          </p:nvPr>
        </p:nvSpPr>
        <p:spPr>
          <a:xfrm>
            <a:off x="1097280" y="942871"/>
            <a:ext cx="10058400" cy="587584"/>
          </a:xfrm>
        </p:spPr>
        <p:txBody>
          <a:bodyPr/>
          <a:lstStyle/>
          <a:p>
            <a:r>
              <a:rPr lang="en-US" dirty="0"/>
              <a:t>Problem statement</a:t>
            </a:r>
          </a:p>
        </p:txBody>
      </p:sp>
    </p:spTree>
    <p:extLst>
      <p:ext uri="{BB962C8B-B14F-4D97-AF65-F5344CB8AC3E}">
        <p14:creationId xmlns:p14="http://schemas.microsoft.com/office/powerpoint/2010/main" val="268205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D850AAA-B77D-4000-A143-0539464CCB02}"/>
              </a:ext>
            </a:extLst>
          </p:cNvPr>
          <p:cNvSpPr>
            <a:spLocks noGrp="1"/>
          </p:cNvSpPr>
          <p:nvPr>
            <p:ph type="body" idx="1"/>
          </p:nvPr>
        </p:nvSpPr>
        <p:spPr/>
        <p:txBody>
          <a:bodyPr/>
          <a:lstStyle/>
          <a:p>
            <a:r>
              <a:rPr lang="en-US" dirty="0"/>
              <a:t>Benefits &amp; Importance</a:t>
            </a:r>
          </a:p>
        </p:txBody>
      </p:sp>
      <p:sp>
        <p:nvSpPr>
          <p:cNvPr id="3" name="Content Placeholder 2">
            <a:extLst>
              <a:ext uri="{FF2B5EF4-FFF2-40B4-BE49-F238E27FC236}">
                <a16:creationId xmlns:a16="http://schemas.microsoft.com/office/drawing/2014/main" id="{6AB250FE-08C8-4530-B722-29C38A359D8B}"/>
              </a:ext>
            </a:extLst>
          </p:cNvPr>
          <p:cNvSpPr>
            <a:spLocks noGrp="1"/>
          </p:cNvSpPr>
          <p:nvPr>
            <p:ph sz="half" idx="2"/>
          </p:nvPr>
        </p:nvSpPr>
        <p:spPr/>
        <p:txBody>
          <a:bodyPr>
            <a:normAutofit fontScale="92500"/>
          </a:bodyPr>
          <a:lstStyle/>
          <a:p>
            <a:r>
              <a:rPr lang="en-US" dirty="0">
                <a:solidFill>
                  <a:schemeClr val="tx1"/>
                </a:solidFill>
              </a:rPr>
              <a:t>Blockchain technology could help remove the middleman, and need for trust, from many situations where it would benefit the end user. A decentralized version of many current platforms (Facebook, Uber, etc.) would remove the need for centralized servers and storing user data, which means companies would have an easier time with regulations like GDPR. Elections could be held entirely on a blockchain, allowing any user to check and validate any other vote that occurred, ensuring an election process that can't be tampered with or manipulated.</a:t>
            </a:r>
          </a:p>
        </p:txBody>
      </p:sp>
      <p:sp>
        <p:nvSpPr>
          <p:cNvPr id="5" name="Text Placeholder 4">
            <a:extLst>
              <a:ext uri="{FF2B5EF4-FFF2-40B4-BE49-F238E27FC236}">
                <a16:creationId xmlns:a16="http://schemas.microsoft.com/office/drawing/2014/main" id="{3CDA0F0A-8BBE-4720-8A8F-47FD935FA9E8}"/>
              </a:ext>
            </a:extLst>
          </p:cNvPr>
          <p:cNvSpPr>
            <a:spLocks noGrp="1"/>
          </p:cNvSpPr>
          <p:nvPr>
            <p:ph type="body" sz="quarter" idx="3"/>
          </p:nvPr>
        </p:nvSpPr>
        <p:spPr/>
        <p:txBody>
          <a:bodyPr/>
          <a:lstStyle/>
          <a:p>
            <a:r>
              <a:rPr lang="en-US" dirty="0"/>
              <a:t>approach</a:t>
            </a:r>
          </a:p>
        </p:txBody>
      </p:sp>
      <p:sp>
        <p:nvSpPr>
          <p:cNvPr id="6" name="Content Placeholder 5">
            <a:extLst>
              <a:ext uri="{FF2B5EF4-FFF2-40B4-BE49-F238E27FC236}">
                <a16:creationId xmlns:a16="http://schemas.microsoft.com/office/drawing/2014/main" id="{1163EFDC-D9E5-4185-9B8F-C3C93FF516E1}"/>
              </a:ext>
            </a:extLst>
          </p:cNvPr>
          <p:cNvSpPr>
            <a:spLocks noGrp="1"/>
          </p:cNvSpPr>
          <p:nvPr>
            <p:ph sz="quarter" idx="4"/>
          </p:nvPr>
        </p:nvSpPr>
        <p:spPr/>
        <p:txBody>
          <a:bodyPr>
            <a:normAutofit/>
          </a:bodyPr>
          <a:lstStyle/>
          <a:p>
            <a:r>
              <a:rPr lang="en-US" dirty="0">
                <a:solidFill>
                  <a:schemeClr val="tx1"/>
                </a:solidFill>
              </a:rPr>
              <a:t>The dapp that I developed provides the user the ability to create and deploy their own smart contract event. The user inputs the event details, and the deployment process implements their details into the event logic. My application will explore and compare multiple transaction types (transferring Ether, deploying contracts, writing to contract storage, etc.) and how the user's input for the creation of each contract impacts the cost.</a:t>
            </a:r>
          </a:p>
        </p:txBody>
      </p:sp>
      <p:sp>
        <p:nvSpPr>
          <p:cNvPr id="2" name="Title 1">
            <a:extLst>
              <a:ext uri="{FF2B5EF4-FFF2-40B4-BE49-F238E27FC236}">
                <a16:creationId xmlns:a16="http://schemas.microsoft.com/office/drawing/2014/main" id="{CDC62B56-74BF-47D4-B1CD-AF93A810B3B7}"/>
              </a:ext>
            </a:extLst>
          </p:cNvPr>
          <p:cNvSpPr>
            <a:spLocks noGrp="1"/>
          </p:cNvSpPr>
          <p:nvPr>
            <p:ph type="title"/>
          </p:nvPr>
        </p:nvSpPr>
        <p:spPr>
          <a:xfrm>
            <a:off x="1097280" y="942871"/>
            <a:ext cx="10058400" cy="587584"/>
          </a:xfrm>
        </p:spPr>
        <p:txBody>
          <a:bodyPr/>
          <a:lstStyle/>
          <a:p>
            <a:r>
              <a:rPr lang="en-US" dirty="0"/>
              <a:t>Problem statement (cont.)</a:t>
            </a:r>
          </a:p>
        </p:txBody>
      </p:sp>
    </p:spTree>
    <p:extLst>
      <p:ext uri="{BB962C8B-B14F-4D97-AF65-F5344CB8AC3E}">
        <p14:creationId xmlns:p14="http://schemas.microsoft.com/office/powerpoint/2010/main" val="1793152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Placeholder 1">
            <a:extLst>
              <a:ext uri="{FF2B5EF4-FFF2-40B4-BE49-F238E27FC236}">
                <a16:creationId xmlns:a16="http://schemas.microsoft.com/office/drawing/2014/main" id="{8473C177-8FD0-4E1B-BFEF-2AA25886C522}"/>
              </a:ext>
            </a:extLst>
          </p:cNvPr>
          <p:cNvSpPr>
            <a:spLocks noGrp="1"/>
          </p:cNvSpPr>
          <p:nvPr>
            <p:ph type="body" idx="1"/>
          </p:nvPr>
        </p:nvSpPr>
        <p:spPr>
          <a:xfrm>
            <a:off x="1097280" y="2057400"/>
            <a:ext cx="4639736" cy="736282"/>
          </a:xfrm>
        </p:spPr>
        <p:txBody>
          <a:bodyPr/>
          <a:lstStyle/>
          <a:p>
            <a:r>
              <a:rPr lang="en-US" dirty="0"/>
              <a:t>overview</a:t>
            </a:r>
          </a:p>
        </p:txBody>
      </p:sp>
      <p:sp>
        <p:nvSpPr>
          <p:cNvPr id="73" name="Text Placeholder 3">
            <a:extLst>
              <a:ext uri="{FF2B5EF4-FFF2-40B4-BE49-F238E27FC236}">
                <a16:creationId xmlns:a16="http://schemas.microsoft.com/office/drawing/2014/main" id="{44A788C4-19F5-488F-A031-06C92F42185D}"/>
              </a:ext>
            </a:extLst>
          </p:cNvPr>
          <p:cNvSpPr>
            <a:spLocks noGrp="1"/>
          </p:cNvSpPr>
          <p:nvPr>
            <p:ph type="body" sz="quarter" idx="3"/>
          </p:nvPr>
        </p:nvSpPr>
        <p:spPr>
          <a:xfrm>
            <a:off x="6515944" y="2057400"/>
            <a:ext cx="4639736" cy="736282"/>
          </a:xfrm>
        </p:spPr>
        <p:txBody>
          <a:bodyPr/>
          <a:lstStyle/>
          <a:p>
            <a:r>
              <a:rPr lang="en-US" dirty="0"/>
              <a:t>specifications</a:t>
            </a:r>
          </a:p>
        </p:txBody>
      </p:sp>
      <p:sp>
        <p:nvSpPr>
          <p:cNvPr id="75" name="Content Placeholder 4">
            <a:extLst>
              <a:ext uri="{FF2B5EF4-FFF2-40B4-BE49-F238E27FC236}">
                <a16:creationId xmlns:a16="http://schemas.microsoft.com/office/drawing/2014/main" id="{18EBDF68-C357-4305-ABC2-53A81265465D}"/>
              </a:ext>
            </a:extLst>
          </p:cNvPr>
          <p:cNvSpPr>
            <a:spLocks noGrp="1"/>
          </p:cNvSpPr>
          <p:nvPr>
            <p:ph sz="quarter" idx="4"/>
          </p:nvPr>
        </p:nvSpPr>
        <p:spPr>
          <a:xfrm>
            <a:off x="1097280" y="2958273"/>
            <a:ext cx="4639736" cy="2910821"/>
          </a:xfrm>
        </p:spPr>
        <p:txBody>
          <a:bodyPr/>
          <a:lstStyle/>
          <a:p>
            <a:pPr lvl="1">
              <a:buFont typeface="Wingdings" panose="05000000000000000000" pitchFamily="2" charset="2"/>
              <a:buChar char="§"/>
            </a:pPr>
            <a:r>
              <a:rPr lang="en-US" dirty="0"/>
              <a:t> Ethereum was a clear choice, the most mature in age and ecosystem. </a:t>
            </a:r>
          </a:p>
          <a:p>
            <a:pPr lvl="1">
              <a:buFont typeface="Wingdings" panose="05000000000000000000" pitchFamily="2" charset="2"/>
              <a:buChar char="§"/>
            </a:pPr>
            <a:r>
              <a:rPr lang="en-US" dirty="0"/>
              <a:t>Solidity is the language used for the Ethereum Virtual Machine (EVM) and will be what I write my smart contracts in. </a:t>
            </a:r>
          </a:p>
          <a:p>
            <a:pPr lvl="1">
              <a:buFont typeface="Wingdings" panose="05000000000000000000" pitchFamily="2" charset="2"/>
              <a:buChar char="§"/>
            </a:pPr>
            <a:r>
              <a:rPr lang="en-US" dirty="0"/>
              <a:t>Truffle and Ganache were two vital tools used during development for testing and building.</a:t>
            </a:r>
          </a:p>
          <a:p>
            <a:pPr lvl="1">
              <a:buFont typeface="Wingdings" panose="05000000000000000000" pitchFamily="2" charset="2"/>
              <a:buChar char="§"/>
            </a:pPr>
            <a:r>
              <a:rPr lang="en-US" dirty="0"/>
              <a:t>React, Drizzle and Web3.js API allowed the frontend to interact with the smart contracts.</a:t>
            </a:r>
          </a:p>
        </p:txBody>
      </p:sp>
      <p:sp>
        <p:nvSpPr>
          <p:cNvPr id="16" name="Title 15">
            <a:extLst>
              <a:ext uri="{FF2B5EF4-FFF2-40B4-BE49-F238E27FC236}">
                <a16:creationId xmlns:a16="http://schemas.microsoft.com/office/drawing/2014/main" id="{09E9EE2C-A105-614C-A133-EF7DF2AD004A}"/>
              </a:ext>
            </a:extLst>
          </p:cNvPr>
          <p:cNvSpPr>
            <a:spLocks noGrp="1"/>
          </p:cNvSpPr>
          <p:nvPr>
            <p:ph type="title"/>
          </p:nvPr>
        </p:nvSpPr>
        <p:spPr>
          <a:xfrm>
            <a:off x="1097280" y="942871"/>
            <a:ext cx="10058400" cy="587584"/>
          </a:xfrm>
        </p:spPr>
        <p:txBody>
          <a:bodyPr anchor="ctr">
            <a:normAutofit/>
          </a:bodyPr>
          <a:lstStyle/>
          <a:p>
            <a:r>
              <a:rPr lang="en-US" dirty="0"/>
              <a:t>ARCHITECTURE &amp; ENGINEERING</a:t>
            </a:r>
          </a:p>
        </p:txBody>
      </p:sp>
      <p:sp>
        <p:nvSpPr>
          <p:cNvPr id="8" name="Content Placeholder 4">
            <a:extLst>
              <a:ext uri="{FF2B5EF4-FFF2-40B4-BE49-F238E27FC236}">
                <a16:creationId xmlns:a16="http://schemas.microsoft.com/office/drawing/2014/main" id="{6D00D30D-0DC6-4397-A476-DF82DBC07C2A}"/>
              </a:ext>
            </a:extLst>
          </p:cNvPr>
          <p:cNvSpPr txBox="1">
            <a:spLocks/>
          </p:cNvSpPr>
          <p:nvPr/>
        </p:nvSpPr>
        <p:spPr>
          <a:xfrm>
            <a:off x="6096000" y="2954572"/>
            <a:ext cx="4639736" cy="2910821"/>
          </a:xfrm>
          <a:prstGeom prst="rect">
            <a:avLst/>
          </a:prstGeom>
        </p:spPr>
        <p:txBody>
          <a:bodyPr vert="horz" lIns="0" tIns="45720" rIns="0" bIns="45720" rtlCol="0">
            <a:norm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16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
            </a:pPr>
            <a:r>
              <a:rPr lang="en-US" dirty="0"/>
              <a:t>Solidity – 0.5.16</a:t>
            </a:r>
          </a:p>
          <a:p>
            <a:pPr lvl="1">
              <a:buFont typeface="Wingdings" panose="05000000000000000000" pitchFamily="2" charset="2"/>
              <a:buChar char="§"/>
            </a:pPr>
            <a:r>
              <a:rPr lang="en-US" dirty="0"/>
              <a:t>Web3.js – 1.2.9</a:t>
            </a:r>
          </a:p>
          <a:p>
            <a:pPr lvl="1">
              <a:buFont typeface="Wingdings" panose="05000000000000000000" pitchFamily="2" charset="2"/>
              <a:buChar char="§"/>
            </a:pPr>
            <a:r>
              <a:rPr lang="en-US" dirty="0"/>
              <a:t>Truffle – 5.2.2</a:t>
            </a:r>
          </a:p>
          <a:p>
            <a:pPr lvl="1">
              <a:buFont typeface="Wingdings" panose="05000000000000000000" pitchFamily="2" charset="2"/>
              <a:buChar char="§"/>
            </a:pPr>
            <a:r>
              <a:rPr lang="en-US" dirty="0"/>
              <a:t>Drizzle – 1.0.0</a:t>
            </a:r>
          </a:p>
          <a:p>
            <a:pPr lvl="1">
              <a:buFont typeface="Wingdings" panose="05000000000000000000" pitchFamily="2" charset="2"/>
              <a:buChar char="§"/>
            </a:pPr>
            <a:r>
              <a:rPr lang="en-US" dirty="0"/>
              <a:t>Ganache – 2.5.4</a:t>
            </a:r>
          </a:p>
          <a:p>
            <a:pPr lvl="1">
              <a:buFont typeface="Wingdings" panose="05000000000000000000" pitchFamily="2" charset="2"/>
              <a:buChar char="§"/>
            </a:pPr>
            <a:r>
              <a:rPr lang="en-US" dirty="0"/>
              <a:t>Metamask – 9.3.0</a:t>
            </a:r>
          </a:p>
          <a:p>
            <a:pPr lvl="1">
              <a:buFont typeface="Wingdings" panose="05000000000000000000" pitchFamily="2" charset="2"/>
              <a:buChar char="§"/>
            </a:pPr>
            <a:r>
              <a:rPr lang="en-US" dirty="0"/>
              <a:t>Node – 10.19.0</a:t>
            </a:r>
          </a:p>
          <a:p>
            <a:pPr lvl="1">
              <a:buFont typeface="Wingdings" panose="05000000000000000000" pitchFamily="2" charset="2"/>
              <a:buChar char="§"/>
            </a:pPr>
            <a:r>
              <a:rPr lang="en-US" dirty="0" err="1"/>
              <a:t>Npm</a:t>
            </a:r>
            <a:r>
              <a:rPr lang="en-US" dirty="0"/>
              <a:t> – 6.14.4</a:t>
            </a:r>
          </a:p>
        </p:txBody>
      </p:sp>
    </p:spTree>
    <p:extLst>
      <p:ext uri="{BB962C8B-B14F-4D97-AF65-F5344CB8AC3E}">
        <p14:creationId xmlns:p14="http://schemas.microsoft.com/office/powerpoint/2010/main" val="707400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app-architecture-img">
            <a:extLst>
              <a:ext uri="{FF2B5EF4-FFF2-40B4-BE49-F238E27FC236}">
                <a16:creationId xmlns:a16="http://schemas.microsoft.com/office/drawing/2014/main" id="{A94F4817-C4F1-4CCD-AFBE-3AE04C1237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6809" y="1897399"/>
            <a:ext cx="10600661" cy="4160758"/>
          </a:xfrm>
          <a:prstGeom prst="rect">
            <a:avLst/>
          </a:prstGeom>
          <a:solidFill>
            <a:srgbClr val="FFFFFF"/>
          </a:solidFill>
        </p:spPr>
      </p:pic>
      <p:sp>
        <p:nvSpPr>
          <p:cNvPr id="73" name="Text Placeholder 3">
            <a:extLst>
              <a:ext uri="{FF2B5EF4-FFF2-40B4-BE49-F238E27FC236}">
                <a16:creationId xmlns:a16="http://schemas.microsoft.com/office/drawing/2014/main" id="{44A788C4-19F5-488F-A031-06C92F42185D}"/>
              </a:ext>
            </a:extLst>
          </p:cNvPr>
          <p:cNvSpPr>
            <a:spLocks noGrp="1"/>
          </p:cNvSpPr>
          <p:nvPr>
            <p:ph type="body" sz="quarter" idx="3"/>
          </p:nvPr>
        </p:nvSpPr>
        <p:spPr>
          <a:xfrm>
            <a:off x="889591" y="2003724"/>
            <a:ext cx="2796363" cy="736282"/>
          </a:xfrm>
        </p:spPr>
        <p:txBody>
          <a:bodyPr/>
          <a:lstStyle/>
          <a:p>
            <a:r>
              <a:rPr lang="en-US" dirty="0"/>
              <a:t>Architecture diagram</a:t>
            </a:r>
          </a:p>
        </p:txBody>
      </p:sp>
      <p:sp>
        <p:nvSpPr>
          <p:cNvPr id="16" name="Title 15">
            <a:extLst>
              <a:ext uri="{FF2B5EF4-FFF2-40B4-BE49-F238E27FC236}">
                <a16:creationId xmlns:a16="http://schemas.microsoft.com/office/drawing/2014/main" id="{09E9EE2C-A105-614C-A133-EF7DF2AD004A}"/>
              </a:ext>
            </a:extLst>
          </p:cNvPr>
          <p:cNvSpPr>
            <a:spLocks noGrp="1"/>
          </p:cNvSpPr>
          <p:nvPr>
            <p:ph type="title"/>
          </p:nvPr>
        </p:nvSpPr>
        <p:spPr>
          <a:xfrm>
            <a:off x="1097280" y="942871"/>
            <a:ext cx="10058400" cy="587584"/>
          </a:xfrm>
        </p:spPr>
        <p:txBody>
          <a:bodyPr anchor="ctr">
            <a:normAutofit/>
          </a:bodyPr>
          <a:lstStyle/>
          <a:p>
            <a:r>
              <a:rPr lang="en-US" dirty="0"/>
              <a:t>ARCHITECTURE &amp; ENGINEERING (cont.)</a:t>
            </a:r>
          </a:p>
        </p:txBody>
      </p:sp>
    </p:spTree>
    <p:extLst>
      <p:ext uri="{BB962C8B-B14F-4D97-AF65-F5344CB8AC3E}">
        <p14:creationId xmlns:p14="http://schemas.microsoft.com/office/powerpoint/2010/main" val="1540462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Placeholder 1">
            <a:extLst>
              <a:ext uri="{FF2B5EF4-FFF2-40B4-BE49-F238E27FC236}">
                <a16:creationId xmlns:a16="http://schemas.microsoft.com/office/drawing/2014/main" id="{8473C177-8FD0-4E1B-BFEF-2AA25886C522}"/>
              </a:ext>
            </a:extLst>
          </p:cNvPr>
          <p:cNvSpPr>
            <a:spLocks noGrp="1"/>
          </p:cNvSpPr>
          <p:nvPr>
            <p:ph type="body" idx="1"/>
          </p:nvPr>
        </p:nvSpPr>
        <p:spPr>
          <a:xfrm>
            <a:off x="1097280" y="2057400"/>
            <a:ext cx="4639736" cy="736282"/>
          </a:xfrm>
        </p:spPr>
        <p:txBody>
          <a:bodyPr/>
          <a:lstStyle/>
          <a:p>
            <a:r>
              <a:rPr lang="en-US" dirty="0"/>
              <a:t>Smart contracts</a:t>
            </a:r>
          </a:p>
        </p:txBody>
      </p:sp>
      <p:sp>
        <p:nvSpPr>
          <p:cNvPr id="75" name="Content Placeholder 4">
            <a:extLst>
              <a:ext uri="{FF2B5EF4-FFF2-40B4-BE49-F238E27FC236}">
                <a16:creationId xmlns:a16="http://schemas.microsoft.com/office/drawing/2014/main" id="{18EBDF68-C357-4305-ABC2-53A81265465D}"/>
              </a:ext>
            </a:extLst>
          </p:cNvPr>
          <p:cNvSpPr>
            <a:spLocks noGrp="1"/>
          </p:cNvSpPr>
          <p:nvPr>
            <p:ph sz="quarter" idx="4"/>
          </p:nvPr>
        </p:nvSpPr>
        <p:spPr>
          <a:xfrm>
            <a:off x="1097280" y="2958273"/>
            <a:ext cx="4639736" cy="2910821"/>
          </a:xfrm>
        </p:spPr>
        <p:txBody>
          <a:bodyPr/>
          <a:lstStyle/>
          <a:p>
            <a:pPr lvl="1">
              <a:buFont typeface="Wingdings" panose="05000000000000000000" pitchFamily="2" charset="2"/>
              <a:buChar char="§"/>
            </a:pPr>
            <a:r>
              <a:rPr lang="en-US" dirty="0"/>
              <a:t>EventManager.sol – Main parent contract that manages contract creation and exposes getters to frontend.</a:t>
            </a:r>
          </a:p>
          <a:p>
            <a:pPr lvl="1">
              <a:buFont typeface="Wingdings" panose="05000000000000000000" pitchFamily="2" charset="2"/>
              <a:buChar char="§"/>
            </a:pPr>
            <a:r>
              <a:rPr lang="en-US" dirty="0"/>
              <a:t>EventCreator.sol – Factory contract handling the deployment of contracts below.</a:t>
            </a:r>
          </a:p>
          <a:p>
            <a:pPr lvl="1">
              <a:buFont typeface="Wingdings" panose="05000000000000000000" pitchFamily="2" charset="2"/>
              <a:buChar char="§"/>
            </a:pPr>
            <a:r>
              <a:rPr lang="en-US" dirty="0"/>
              <a:t>PollEvent.sol – Contract with logic to handle a poll.</a:t>
            </a:r>
          </a:p>
          <a:p>
            <a:pPr lvl="1">
              <a:buFont typeface="Wingdings" panose="05000000000000000000" pitchFamily="2" charset="2"/>
              <a:buChar char="§"/>
            </a:pPr>
            <a:r>
              <a:rPr lang="en-US" dirty="0"/>
              <a:t>EscrowEvent.sol – Contract with logic to handle an escrow service.</a:t>
            </a:r>
          </a:p>
          <a:p>
            <a:pPr lvl="1">
              <a:buFont typeface="Wingdings" panose="05000000000000000000" pitchFamily="2" charset="2"/>
              <a:buChar char="§"/>
            </a:pPr>
            <a:r>
              <a:rPr lang="en-US" dirty="0"/>
              <a:t>LotteryEvent.sol – Contract with logic to handle a lottery.</a:t>
            </a:r>
          </a:p>
          <a:p>
            <a:pPr marL="201168" lvl="1" indent="0">
              <a:buNone/>
            </a:pPr>
            <a:endParaRPr lang="en-US" dirty="0"/>
          </a:p>
        </p:txBody>
      </p:sp>
      <p:sp>
        <p:nvSpPr>
          <p:cNvPr id="16" name="Title 15">
            <a:extLst>
              <a:ext uri="{FF2B5EF4-FFF2-40B4-BE49-F238E27FC236}">
                <a16:creationId xmlns:a16="http://schemas.microsoft.com/office/drawing/2014/main" id="{09E9EE2C-A105-614C-A133-EF7DF2AD004A}"/>
              </a:ext>
            </a:extLst>
          </p:cNvPr>
          <p:cNvSpPr>
            <a:spLocks noGrp="1"/>
          </p:cNvSpPr>
          <p:nvPr>
            <p:ph type="title"/>
          </p:nvPr>
        </p:nvSpPr>
        <p:spPr>
          <a:xfrm>
            <a:off x="1097280" y="942871"/>
            <a:ext cx="10058400" cy="587584"/>
          </a:xfrm>
        </p:spPr>
        <p:txBody>
          <a:bodyPr anchor="ctr">
            <a:normAutofit/>
          </a:bodyPr>
          <a:lstStyle/>
          <a:p>
            <a:r>
              <a:rPr lang="en-US" dirty="0"/>
              <a:t>ARCHITECTURE &amp; ENGINEERING (cont.)</a:t>
            </a:r>
          </a:p>
        </p:txBody>
      </p:sp>
      <p:pic>
        <p:nvPicPr>
          <p:cNvPr id="9" name="Picture 8">
            <a:extLst>
              <a:ext uri="{FF2B5EF4-FFF2-40B4-BE49-F238E27FC236}">
                <a16:creationId xmlns:a16="http://schemas.microsoft.com/office/drawing/2014/main" id="{163BC7AB-6A57-489F-9626-763F7E7F5867}"/>
              </a:ext>
            </a:extLst>
          </p:cNvPr>
          <p:cNvPicPr>
            <a:picLocks noChangeAspect="1"/>
          </p:cNvPicPr>
          <p:nvPr/>
        </p:nvPicPr>
        <p:blipFill>
          <a:blip r:embed="rId3"/>
          <a:stretch>
            <a:fillRect/>
          </a:stretch>
        </p:blipFill>
        <p:spPr>
          <a:xfrm>
            <a:off x="6167498" y="2564868"/>
            <a:ext cx="4927222" cy="18981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Text Placeholder 1">
            <a:extLst>
              <a:ext uri="{FF2B5EF4-FFF2-40B4-BE49-F238E27FC236}">
                <a16:creationId xmlns:a16="http://schemas.microsoft.com/office/drawing/2014/main" id="{8E01FC0F-8349-493A-9F9C-88B40A9F0DCD}"/>
              </a:ext>
            </a:extLst>
          </p:cNvPr>
          <p:cNvSpPr txBox="1">
            <a:spLocks/>
          </p:cNvSpPr>
          <p:nvPr/>
        </p:nvSpPr>
        <p:spPr>
          <a:xfrm>
            <a:off x="6228458" y="2057400"/>
            <a:ext cx="4639736" cy="736282"/>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None/>
              <a:defRPr sz="2000" b="0" kern="1200" cap="all" baseline="0">
                <a:solidFill>
                  <a:schemeClr val="tx1"/>
                </a:solidFill>
                <a:latin typeface="+mn-lt"/>
                <a:ea typeface="+mn-ea"/>
                <a:cs typeface="+mn-cs"/>
              </a:defRPr>
            </a:lvl1pPr>
            <a:lvl2pPr marL="457200" indent="0" algn="l" defTabSz="914400" rtl="0" eaLnBrk="1" latinLnBrk="0" hangingPunct="1">
              <a:lnSpc>
                <a:spcPct val="100000"/>
              </a:lnSpc>
              <a:spcBef>
                <a:spcPts val="200"/>
              </a:spcBef>
              <a:spcAft>
                <a:spcPts val="400"/>
              </a:spcAft>
              <a:buClrTx/>
              <a:buFont typeface="Calibri"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200"/>
              </a:spcBef>
              <a:spcAft>
                <a:spcPts val="400"/>
              </a:spcAft>
              <a:buClrTx/>
              <a:buFont typeface="Calibri"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200"/>
              </a:spcBef>
              <a:spcAft>
                <a:spcPts val="400"/>
              </a:spcAft>
              <a:buClrTx/>
              <a:buFont typeface="Calibri"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200"/>
              </a:spcBef>
              <a:spcAft>
                <a:spcPts val="400"/>
              </a:spcAft>
              <a:buClrTx/>
              <a:buFont typeface="Calibri"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9pPr>
          </a:lstStyle>
          <a:p>
            <a:endParaRPr lang="en-US" dirty="0"/>
          </a:p>
        </p:txBody>
      </p:sp>
      <p:sp>
        <p:nvSpPr>
          <p:cNvPr id="17" name="TextBox 16">
            <a:extLst>
              <a:ext uri="{FF2B5EF4-FFF2-40B4-BE49-F238E27FC236}">
                <a16:creationId xmlns:a16="http://schemas.microsoft.com/office/drawing/2014/main" id="{FC3F80C4-4D55-4B45-8844-FC043A8167AA}"/>
              </a:ext>
            </a:extLst>
          </p:cNvPr>
          <p:cNvSpPr txBox="1"/>
          <p:nvPr/>
        </p:nvSpPr>
        <p:spPr>
          <a:xfrm>
            <a:off x="5880012" y="4627651"/>
            <a:ext cx="4927222" cy="523220"/>
          </a:xfrm>
          <a:prstGeom prst="rect">
            <a:avLst/>
          </a:prstGeom>
          <a:noFill/>
        </p:spPr>
        <p:txBody>
          <a:bodyPr wrap="square">
            <a:spAutoFit/>
          </a:bodyPr>
          <a:lstStyle/>
          <a:p>
            <a:pPr lvl="1"/>
            <a:r>
              <a:rPr lang="en-US" sz="1400" dirty="0"/>
              <a:t>Screenshot of code from the dapp displaying the structs used in each event contract.</a:t>
            </a:r>
          </a:p>
        </p:txBody>
      </p:sp>
    </p:spTree>
    <p:extLst>
      <p:ext uri="{BB962C8B-B14F-4D97-AF65-F5344CB8AC3E}">
        <p14:creationId xmlns:p14="http://schemas.microsoft.com/office/powerpoint/2010/main" val="2111007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Placeholder 1">
            <a:extLst>
              <a:ext uri="{FF2B5EF4-FFF2-40B4-BE49-F238E27FC236}">
                <a16:creationId xmlns:a16="http://schemas.microsoft.com/office/drawing/2014/main" id="{8473C177-8FD0-4E1B-BFEF-2AA25886C522}"/>
              </a:ext>
            </a:extLst>
          </p:cNvPr>
          <p:cNvSpPr>
            <a:spLocks noGrp="1"/>
          </p:cNvSpPr>
          <p:nvPr>
            <p:ph type="body" idx="1"/>
          </p:nvPr>
        </p:nvSpPr>
        <p:spPr>
          <a:xfrm>
            <a:off x="1097280" y="2057400"/>
            <a:ext cx="4639736" cy="736282"/>
          </a:xfrm>
        </p:spPr>
        <p:txBody>
          <a:bodyPr/>
          <a:lstStyle/>
          <a:p>
            <a:r>
              <a:rPr lang="en-US" dirty="0"/>
              <a:t>Programming contracts</a:t>
            </a:r>
          </a:p>
        </p:txBody>
      </p:sp>
      <p:sp>
        <p:nvSpPr>
          <p:cNvPr id="73" name="Text Placeholder 3">
            <a:extLst>
              <a:ext uri="{FF2B5EF4-FFF2-40B4-BE49-F238E27FC236}">
                <a16:creationId xmlns:a16="http://schemas.microsoft.com/office/drawing/2014/main" id="{44A788C4-19F5-488F-A031-06C92F42185D}"/>
              </a:ext>
            </a:extLst>
          </p:cNvPr>
          <p:cNvSpPr>
            <a:spLocks noGrp="1"/>
          </p:cNvSpPr>
          <p:nvPr>
            <p:ph type="body" sz="quarter" idx="3"/>
          </p:nvPr>
        </p:nvSpPr>
        <p:spPr>
          <a:xfrm>
            <a:off x="6515944" y="2057400"/>
            <a:ext cx="4639736" cy="736282"/>
          </a:xfrm>
        </p:spPr>
        <p:txBody>
          <a:bodyPr/>
          <a:lstStyle/>
          <a:p>
            <a:r>
              <a:rPr lang="en-US" dirty="0"/>
              <a:t>Challenges &amp; limitations</a:t>
            </a:r>
          </a:p>
        </p:txBody>
      </p:sp>
      <p:sp>
        <p:nvSpPr>
          <p:cNvPr id="75" name="Content Placeholder 4">
            <a:extLst>
              <a:ext uri="{FF2B5EF4-FFF2-40B4-BE49-F238E27FC236}">
                <a16:creationId xmlns:a16="http://schemas.microsoft.com/office/drawing/2014/main" id="{18EBDF68-C357-4305-ABC2-53A81265465D}"/>
              </a:ext>
            </a:extLst>
          </p:cNvPr>
          <p:cNvSpPr>
            <a:spLocks noGrp="1"/>
          </p:cNvSpPr>
          <p:nvPr>
            <p:ph sz="quarter" idx="4"/>
          </p:nvPr>
        </p:nvSpPr>
        <p:spPr>
          <a:xfrm>
            <a:off x="1097280" y="2958273"/>
            <a:ext cx="4639736" cy="2910821"/>
          </a:xfrm>
        </p:spPr>
        <p:txBody>
          <a:bodyPr/>
          <a:lstStyle/>
          <a:p>
            <a:pPr lvl="1">
              <a:buFont typeface="Wingdings" panose="05000000000000000000" pitchFamily="2" charset="2"/>
              <a:buChar char="§"/>
            </a:pPr>
            <a:r>
              <a:rPr lang="en-US" dirty="0"/>
              <a:t>Each contract type followed a similar pattern. Taking input from the frontend, creating a struct with that input data, and mapping it to the contract using a unique ID as the key.</a:t>
            </a:r>
          </a:p>
          <a:p>
            <a:pPr lvl="1">
              <a:buFont typeface="Wingdings" panose="05000000000000000000" pitchFamily="2" charset="2"/>
              <a:buChar char="§"/>
            </a:pPr>
            <a:r>
              <a:rPr lang="en-US" dirty="0"/>
              <a:t>Specific inputs are required based on the event type: poll contracts require a list of candidates, while escrow contracts need to know the required deposit amount. </a:t>
            </a:r>
          </a:p>
          <a:p>
            <a:pPr lvl="1">
              <a:buFont typeface="Wingdings" panose="05000000000000000000" pitchFamily="2" charset="2"/>
              <a:buChar char="§"/>
            </a:pPr>
            <a:r>
              <a:rPr lang="en-US" dirty="0"/>
              <a:t>These mapped structs can then have their values updated as the user interacts with the contract, i.e., casts their vote or deposits into an escrow.</a:t>
            </a:r>
          </a:p>
        </p:txBody>
      </p:sp>
      <p:sp>
        <p:nvSpPr>
          <p:cNvPr id="16" name="Title 15">
            <a:extLst>
              <a:ext uri="{FF2B5EF4-FFF2-40B4-BE49-F238E27FC236}">
                <a16:creationId xmlns:a16="http://schemas.microsoft.com/office/drawing/2014/main" id="{09E9EE2C-A105-614C-A133-EF7DF2AD004A}"/>
              </a:ext>
            </a:extLst>
          </p:cNvPr>
          <p:cNvSpPr>
            <a:spLocks noGrp="1"/>
          </p:cNvSpPr>
          <p:nvPr>
            <p:ph type="title"/>
          </p:nvPr>
        </p:nvSpPr>
        <p:spPr>
          <a:xfrm>
            <a:off x="1097280" y="942871"/>
            <a:ext cx="10058400" cy="587584"/>
          </a:xfrm>
        </p:spPr>
        <p:txBody>
          <a:bodyPr anchor="ctr">
            <a:normAutofit/>
          </a:bodyPr>
          <a:lstStyle/>
          <a:p>
            <a:r>
              <a:rPr lang="en-US" dirty="0"/>
              <a:t>ARCHITECTURE &amp; ENGINEERING (cont.)</a:t>
            </a:r>
          </a:p>
        </p:txBody>
      </p:sp>
      <p:sp>
        <p:nvSpPr>
          <p:cNvPr id="8" name="Content Placeholder 4">
            <a:extLst>
              <a:ext uri="{FF2B5EF4-FFF2-40B4-BE49-F238E27FC236}">
                <a16:creationId xmlns:a16="http://schemas.microsoft.com/office/drawing/2014/main" id="{6D00D30D-0DC6-4397-A476-DF82DBC07C2A}"/>
              </a:ext>
            </a:extLst>
          </p:cNvPr>
          <p:cNvSpPr txBox="1">
            <a:spLocks/>
          </p:cNvSpPr>
          <p:nvPr/>
        </p:nvSpPr>
        <p:spPr>
          <a:xfrm>
            <a:off x="6096000" y="2954572"/>
            <a:ext cx="4639736" cy="2910821"/>
          </a:xfrm>
          <a:prstGeom prst="rect">
            <a:avLst/>
          </a:prstGeom>
        </p:spPr>
        <p:txBody>
          <a:bodyPr vert="horz" lIns="0" tIns="45720" rIns="0" bIns="45720" rtlCol="0">
            <a:normAutofit lnSpcReduction="10000"/>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1600" kern="1200">
                <a:solidFill>
                  <a:schemeClr val="tx1"/>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1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
            </a:pPr>
            <a:r>
              <a:rPr lang="en-US" dirty="0"/>
              <a:t>Each time we write to the blockchain, it costs the user money. Each additional loop we must make, variable that needs incremented, and line of repetitive code all falls back onto the user in the form of additional gas fees.</a:t>
            </a:r>
          </a:p>
          <a:p>
            <a:pPr lvl="1">
              <a:buFont typeface="Wingdings" panose="05000000000000000000" pitchFamily="2" charset="2"/>
              <a:buChar char="§"/>
            </a:pPr>
            <a:r>
              <a:rPr lang="en-US" dirty="0"/>
              <a:t>Solidity is a deterministic language, meaning generating a random number is not possible without work arounds or 3rd party solutions.</a:t>
            </a:r>
          </a:p>
          <a:p>
            <a:pPr lvl="1">
              <a:buFont typeface="Wingdings" panose="05000000000000000000" pitchFamily="2" charset="2"/>
              <a:buChar char="§"/>
            </a:pPr>
            <a:r>
              <a:rPr lang="en-US" dirty="0"/>
              <a:t>Had to use keccak256 hash algorithm to create pseudorandom numbers.</a:t>
            </a:r>
          </a:p>
          <a:p>
            <a:pPr lvl="1">
              <a:buFont typeface="Wingdings" panose="05000000000000000000" pitchFamily="2" charset="2"/>
              <a:buChar char="§"/>
            </a:pPr>
            <a:r>
              <a:rPr lang="en-US" dirty="0"/>
              <a:t>Blockchains have no internal concept of time or any standard libraries, so using the estimated block timestamp for future dates was my solution. </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223676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a:xfrm>
            <a:off x="776699" y="1006666"/>
            <a:ext cx="3038785" cy="587584"/>
          </a:xfrm>
        </p:spPr>
        <p:txBody>
          <a:bodyPr>
            <a:normAutofit fontScale="90000"/>
          </a:bodyPr>
          <a:lstStyle/>
          <a:p>
            <a:r>
              <a:rPr lang="en-US" dirty="0"/>
              <a:t>USER EXPERIENCE &amp; INTERFACE</a:t>
            </a:r>
          </a:p>
        </p:txBody>
      </p:sp>
      <p:pic>
        <p:nvPicPr>
          <p:cNvPr id="4098" name="Picture 2" descr="dapp-interface-img">
            <a:extLst>
              <a:ext uri="{FF2B5EF4-FFF2-40B4-BE49-F238E27FC236}">
                <a16:creationId xmlns:a16="http://schemas.microsoft.com/office/drawing/2014/main" id="{BEE4DF7B-6181-46E2-9500-C7DCE334E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9739" y="848891"/>
            <a:ext cx="7385562" cy="516021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94B737D1-5C09-406D-AAA4-3FAFA46D9867}"/>
              </a:ext>
            </a:extLst>
          </p:cNvPr>
          <p:cNvSpPr txBox="1"/>
          <p:nvPr/>
        </p:nvSpPr>
        <p:spPr>
          <a:xfrm>
            <a:off x="776700" y="1998921"/>
            <a:ext cx="3038784" cy="4216539"/>
          </a:xfrm>
          <a:prstGeom prst="rect">
            <a:avLst/>
          </a:prstGeom>
          <a:noFill/>
        </p:spPr>
        <p:txBody>
          <a:bodyPr wrap="square" rtlCol="0">
            <a:spAutoFit/>
          </a:bodyPr>
          <a:lstStyle/>
          <a:p>
            <a:pPr marL="285750" indent="-285750">
              <a:buFont typeface="Wingdings" panose="05000000000000000000" pitchFamily="2" charset="2"/>
              <a:buChar char="§"/>
            </a:pPr>
            <a:r>
              <a:rPr lang="en-US" dirty="0"/>
              <a:t>The main priority of the interface and experience of my dapp was simplicity.</a:t>
            </a:r>
          </a:p>
          <a:p>
            <a:endParaRPr lang="en-US" sz="800" dirty="0"/>
          </a:p>
          <a:p>
            <a:pPr marL="285750" indent="-285750">
              <a:buFont typeface="Wingdings" panose="05000000000000000000" pitchFamily="2" charset="2"/>
              <a:buChar char="§"/>
            </a:pPr>
            <a:r>
              <a:rPr lang="en-US" dirty="0"/>
              <a:t>First step is to fund an account so you can complete transactions.</a:t>
            </a:r>
          </a:p>
          <a:p>
            <a:endParaRPr lang="en-US" sz="800" dirty="0"/>
          </a:p>
          <a:p>
            <a:pPr marL="285750" indent="-285750">
              <a:buFont typeface="Wingdings" panose="05000000000000000000" pitchFamily="2" charset="2"/>
              <a:buChar char="§"/>
            </a:pPr>
            <a:r>
              <a:rPr lang="en-US" dirty="0"/>
              <a:t>After funding, the user sends their Ether to a browser wallet extension.</a:t>
            </a:r>
          </a:p>
          <a:p>
            <a:endParaRPr lang="en-US" sz="800" dirty="0"/>
          </a:p>
          <a:p>
            <a:pPr marL="285750" indent="-285750">
              <a:buFont typeface="Wingdings" panose="05000000000000000000" pitchFamily="2" charset="2"/>
              <a:buChar char="§"/>
            </a:pPr>
            <a:r>
              <a:rPr lang="en-US" dirty="0"/>
              <a:t>User can now interact with the dapp.</a:t>
            </a:r>
          </a:p>
        </p:txBody>
      </p:sp>
    </p:spTree>
    <p:extLst>
      <p:ext uri="{BB962C8B-B14F-4D97-AF65-F5344CB8AC3E}">
        <p14:creationId xmlns:p14="http://schemas.microsoft.com/office/powerpoint/2010/main" val="1640389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close up of a video camera lens">
            <a:extLst>
              <a:ext uri="{FF2B5EF4-FFF2-40B4-BE49-F238E27FC236}">
                <a16:creationId xmlns:a16="http://schemas.microsoft.com/office/drawing/2014/main" id="{8CF182DB-5145-EB40-81CD-BF5F590D79F0}"/>
              </a:ext>
            </a:extLst>
          </p:cNvPr>
          <p:cNvPicPr>
            <a:picLocks noGrp="1" noChangeAspect="1"/>
          </p:cNvPicPr>
          <p:nvPr>
            <p:ph idx="1"/>
          </p:nvPr>
        </p:nvPicPr>
        <p:blipFill rotWithShape="1">
          <a:blip r:embed="rId2" cstate="email">
            <a:extLst>
              <a:ext uri="{28A0092B-C50C-407E-A947-70E740481C1C}">
                <a14:useLocalDpi xmlns:a14="http://schemas.microsoft.com/office/drawing/2010/main"/>
              </a:ext>
            </a:extLst>
          </a:blip>
          <a:srcRect/>
          <a:stretch/>
        </p:blipFill>
        <p:spPr>
          <a:xfrm>
            <a:off x="1097280" y="2108200"/>
            <a:ext cx="9914431" cy="3760788"/>
          </a:xfrm>
          <a:prstGeom prst="rect">
            <a:avLst/>
          </a:prstGeom>
        </p:spPr>
      </p:pic>
      <p:sp>
        <p:nvSpPr>
          <p:cNvPr id="2" name="Title 1">
            <a:extLst>
              <a:ext uri="{FF2B5EF4-FFF2-40B4-BE49-F238E27FC236}">
                <a16:creationId xmlns:a16="http://schemas.microsoft.com/office/drawing/2014/main" id="{1732E9F2-C620-4FC8-8F0A-A41F3E18EE1C}"/>
              </a:ext>
            </a:extLst>
          </p:cNvPr>
          <p:cNvSpPr>
            <a:spLocks noGrp="1"/>
          </p:cNvSpPr>
          <p:nvPr>
            <p:ph type="title"/>
          </p:nvPr>
        </p:nvSpPr>
        <p:spPr/>
        <p:txBody>
          <a:bodyPr/>
          <a:lstStyle/>
          <a:p>
            <a:r>
              <a:rPr lang="en-US" dirty="0"/>
              <a:t>APPLICATION DEMONSTRATION</a:t>
            </a:r>
          </a:p>
        </p:txBody>
      </p:sp>
    </p:spTree>
    <p:extLst>
      <p:ext uri="{BB962C8B-B14F-4D97-AF65-F5344CB8AC3E}">
        <p14:creationId xmlns:p14="http://schemas.microsoft.com/office/powerpoint/2010/main" val="3494493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59CD-1242-F149-AB16-9D02E7C89131}"/>
              </a:ext>
            </a:extLst>
          </p:cNvPr>
          <p:cNvSpPr>
            <a:spLocks noGrp="1"/>
          </p:cNvSpPr>
          <p:nvPr>
            <p:ph type="title"/>
          </p:nvPr>
        </p:nvSpPr>
        <p:spPr>
          <a:xfrm>
            <a:off x="1394932" y="1091727"/>
            <a:ext cx="5711810" cy="587584"/>
          </a:xfrm>
        </p:spPr>
        <p:txBody>
          <a:bodyPr/>
          <a:lstStyle/>
          <a:p>
            <a:r>
              <a:rPr lang="en-US" dirty="0"/>
              <a:t>EVALUATION METRICS</a:t>
            </a:r>
          </a:p>
        </p:txBody>
      </p:sp>
      <p:sp>
        <p:nvSpPr>
          <p:cNvPr id="3" name="Content Placeholder 2">
            <a:extLst>
              <a:ext uri="{FF2B5EF4-FFF2-40B4-BE49-F238E27FC236}">
                <a16:creationId xmlns:a16="http://schemas.microsoft.com/office/drawing/2014/main" id="{79497D95-D925-3641-A715-DB7630E983B0}"/>
              </a:ext>
            </a:extLst>
          </p:cNvPr>
          <p:cNvSpPr>
            <a:spLocks noGrp="1"/>
          </p:cNvSpPr>
          <p:nvPr>
            <p:ph sz="half" idx="2"/>
          </p:nvPr>
        </p:nvSpPr>
        <p:spPr>
          <a:xfrm>
            <a:off x="1394932" y="1973589"/>
            <a:ext cx="8695366" cy="3980644"/>
          </a:xfrm>
        </p:spPr>
        <p:txBody>
          <a:bodyPr/>
          <a:lstStyle/>
          <a:p>
            <a:pPr marL="0" indent="0">
              <a:buNone/>
            </a:pPr>
            <a:r>
              <a:rPr lang="en-US" dirty="0"/>
              <a:t>The Ethereum network uses its native token, Ether, as gas for transaction. This gas is the fee that is spent during each transaction, and currently goes to the miners of the network as a reward for validating blocks and keeping the chain in consensus.</a:t>
            </a:r>
          </a:p>
          <a:p>
            <a:pPr marL="0" indent="0">
              <a:buNone/>
            </a:pPr>
            <a:r>
              <a:rPr lang="en-US" dirty="0"/>
              <a:t>Gas is usually expressed in small fractions of Ether and is commonly referred to by the unit "gwei". The price of Ether can be volatile, meaning gas prices are always in flux. High network congestion also impacts gas prices, as the miners must price the gas in accordance with supply and demand on the network. </a:t>
            </a:r>
          </a:p>
          <a:p>
            <a:pPr marL="0" indent="0">
              <a:buNone/>
            </a:pPr>
            <a:r>
              <a:rPr lang="en-US" dirty="0"/>
              <a:t>To evaluate the transactions of this dapp, we will be expressing costs in terms of gwei and the United States Dollar (USD). We will be evaluating how transaction costs vary amongst transaction type, how costs differ for the same transaction over a period, and how the price of Ether impacts those costs.</a:t>
            </a:r>
          </a:p>
        </p:txBody>
      </p:sp>
    </p:spTree>
    <p:extLst>
      <p:ext uri="{BB962C8B-B14F-4D97-AF65-F5344CB8AC3E}">
        <p14:creationId xmlns:p14="http://schemas.microsoft.com/office/powerpoint/2010/main" val="157450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50498-C6E0-4603-8DF5-64D8BE8F2FB8}"/>
              </a:ext>
            </a:extLst>
          </p:cNvPr>
          <p:cNvSpPr>
            <a:spLocks noGrp="1"/>
          </p:cNvSpPr>
          <p:nvPr>
            <p:ph type="title"/>
          </p:nvPr>
        </p:nvSpPr>
        <p:spPr>
          <a:prstGeom prst="rect">
            <a:avLst/>
          </a:prstGeom>
        </p:spPr>
        <p:txBody>
          <a:bodyPr anchor="ctr">
            <a:normAutofit/>
          </a:bodyPr>
          <a:lstStyle/>
          <a:p>
            <a:r>
              <a:rPr lang="en-US" dirty="0"/>
              <a:t>DATA INSIGHT</a:t>
            </a:r>
          </a:p>
        </p:txBody>
      </p:sp>
      <p:sp>
        <p:nvSpPr>
          <p:cNvPr id="4" name="Content Placeholder 3">
            <a:extLst>
              <a:ext uri="{FF2B5EF4-FFF2-40B4-BE49-F238E27FC236}">
                <a16:creationId xmlns:a16="http://schemas.microsoft.com/office/drawing/2014/main" id="{D8FCA04F-23FA-4570-8C67-891A0E5FE0D1}"/>
              </a:ext>
            </a:extLst>
          </p:cNvPr>
          <p:cNvSpPr>
            <a:spLocks noGrp="1"/>
          </p:cNvSpPr>
          <p:nvPr>
            <p:ph idx="1"/>
          </p:nvPr>
        </p:nvSpPr>
        <p:spPr>
          <a:xfrm>
            <a:off x="1097280" y="2108201"/>
            <a:ext cx="9152506" cy="3806928"/>
          </a:xfrm>
        </p:spPr>
        <p:txBody>
          <a:bodyPr>
            <a:normAutofit/>
          </a:bodyPr>
          <a:lstStyle/>
          <a:p>
            <a:r>
              <a:rPr lang="en-US" dirty="0"/>
              <a:t>The two main components to look at were deployment costs and transaction costs. For each deployment and transaction that could occur in my dapp, I executed it ten times in a span of 10 minutes.</a:t>
            </a:r>
          </a:p>
          <a:p>
            <a:r>
              <a:rPr lang="en-US" dirty="0"/>
              <a:t>During each execution, data was logged into a csv file. Truffle and Ganache provided all the information I needed about each deployment and transaction, including the gas price, gas usage, and timestamps.</a:t>
            </a:r>
          </a:p>
          <a:p>
            <a:r>
              <a:rPr lang="en-US" dirty="0"/>
              <a:t>Once I had all the data, I used pandas and matplotlib to create visualizations in Jupyter Notebook of the data I had for each transaction. </a:t>
            </a:r>
          </a:p>
        </p:txBody>
      </p:sp>
    </p:spTree>
    <p:extLst>
      <p:ext uri="{BB962C8B-B14F-4D97-AF65-F5344CB8AC3E}">
        <p14:creationId xmlns:p14="http://schemas.microsoft.com/office/powerpoint/2010/main" val="824780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a:xfrm>
            <a:off x="1061798" y="1005500"/>
            <a:ext cx="9536882" cy="587584"/>
          </a:xfrm>
        </p:spPr>
        <p:txBody>
          <a:bodyPr>
            <a:normAutofit/>
          </a:bodyPr>
          <a:lstStyle/>
          <a:p>
            <a:r>
              <a:rPr lang="en-US" dirty="0"/>
              <a:t>Event Manager &amp; Event Creator Deployment</a:t>
            </a:r>
          </a:p>
        </p:txBody>
      </p:sp>
      <p:sp>
        <p:nvSpPr>
          <p:cNvPr id="17" name="TextBox 16">
            <a:extLst>
              <a:ext uri="{FF2B5EF4-FFF2-40B4-BE49-F238E27FC236}">
                <a16:creationId xmlns:a16="http://schemas.microsoft.com/office/drawing/2014/main" id="{94B737D1-5C09-406D-AAA4-3FAFA46D9867}"/>
              </a:ext>
            </a:extLst>
          </p:cNvPr>
          <p:cNvSpPr txBox="1"/>
          <p:nvPr/>
        </p:nvSpPr>
        <p:spPr>
          <a:xfrm>
            <a:off x="1061798" y="1871329"/>
            <a:ext cx="3674044" cy="3400931"/>
          </a:xfrm>
          <a:prstGeom prst="rect">
            <a:avLst/>
          </a:prstGeom>
          <a:noFill/>
        </p:spPr>
        <p:txBody>
          <a:bodyPr wrap="square" rtlCol="0">
            <a:spAutoFit/>
          </a:bodyPr>
          <a:lstStyle/>
          <a:p>
            <a:pPr marL="285750" indent="-285750">
              <a:buFont typeface="Wingdings" panose="05000000000000000000" pitchFamily="2" charset="2"/>
              <a:buChar char="§"/>
            </a:pPr>
            <a:r>
              <a:rPr lang="en-US" dirty="0"/>
              <a:t>Shows the deployment costs of the </a:t>
            </a:r>
            <a:r>
              <a:rPr lang="en-US" dirty="0" err="1"/>
              <a:t>EventManager</a:t>
            </a:r>
            <a:r>
              <a:rPr lang="en-US" dirty="0"/>
              <a:t> and EventCreator contract and gas prices.</a:t>
            </a:r>
          </a:p>
          <a:p>
            <a:endParaRPr lang="en-US" sz="800" dirty="0"/>
          </a:p>
          <a:p>
            <a:pPr marL="285750" indent="-285750">
              <a:buFont typeface="Wingdings" panose="05000000000000000000" pitchFamily="2" charset="2"/>
              <a:buChar char="§"/>
            </a:pPr>
            <a:r>
              <a:rPr lang="en-US" dirty="0"/>
              <a:t>EventCreator contract was far more expensive, 0.65-0.82 ETH or $1,491.46 to $1,881.54 to deploy it.</a:t>
            </a:r>
          </a:p>
          <a:p>
            <a:endParaRPr lang="en-US" sz="800" dirty="0"/>
          </a:p>
          <a:p>
            <a:pPr marL="285750" indent="-285750">
              <a:buFont typeface="Wingdings" panose="05000000000000000000" pitchFamily="2" charset="2"/>
              <a:buChar char="§"/>
            </a:pPr>
            <a:r>
              <a:rPr lang="en-US" dirty="0" err="1"/>
              <a:t>EventManager</a:t>
            </a:r>
            <a:r>
              <a:rPr lang="en-US" dirty="0"/>
              <a:t> contract only took about 0.19 ETH or $435.97.</a:t>
            </a:r>
          </a:p>
        </p:txBody>
      </p:sp>
      <p:pic>
        <p:nvPicPr>
          <p:cNvPr id="5122" name="Picture 2" descr="EventManager Deploy">
            <a:extLst>
              <a:ext uri="{FF2B5EF4-FFF2-40B4-BE49-F238E27FC236}">
                <a16:creationId xmlns:a16="http://schemas.microsoft.com/office/drawing/2014/main" id="{EA6B873D-DE85-4DF0-8664-335D5AFA7A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842" y="1779147"/>
            <a:ext cx="6362723" cy="3972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397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a:xfrm>
            <a:off x="1061798" y="1005500"/>
            <a:ext cx="9536882" cy="587584"/>
          </a:xfrm>
        </p:spPr>
        <p:txBody>
          <a:bodyPr>
            <a:normAutofit/>
          </a:bodyPr>
          <a:lstStyle/>
          <a:p>
            <a:r>
              <a:rPr lang="en-US" dirty="0"/>
              <a:t>Poll, Escrow, &amp; Lottery Contract Deployment</a:t>
            </a:r>
          </a:p>
        </p:txBody>
      </p:sp>
      <p:sp>
        <p:nvSpPr>
          <p:cNvPr id="17" name="TextBox 16">
            <a:extLst>
              <a:ext uri="{FF2B5EF4-FFF2-40B4-BE49-F238E27FC236}">
                <a16:creationId xmlns:a16="http://schemas.microsoft.com/office/drawing/2014/main" id="{94B737D1-5C09-406D-AAA4-3FAFA46D9867}"/>
              </a:ext>
            </a:extLst>
          </p:cNvPr>
          <p:cNvSpPr txBox="1"/>
          <p:nvPr/>
        </p:nvSpPr>
        <p:spPr>
          <a:xfrm>
            <a:off x="1061798" y="1871329"/>
            <a:ext cx="3674044" cy="3508653"/>
          </a:xfrm>
          <a:prstGeom prst="rect">
            <a:avLst/>
          </a:prstGeom>
          <a:noFill/>
        </p:spPr>
        <p:txBody>
          <a:bodyPr wrap="square" rtlCol="0">
            <a:spAutoFit/>
          </a:bodyPr>
          <a:lstStyle/>
          <a:p>
            <a:pPr marL="285750" indent="-285750">
              <a:buFont typeface="Wingdings" panose="05000000000000000000" pitchFamily="2" charset="2"/>
              <a:buChar char="§"/>
            </a:pPr>
            <a:r>
              <a:rPr lang="en-US" dirty="0"/>
              <a:t>Shows the costs and gas prices of deploying each of the contract event types.</a:t>
            </a:r>
          </a:p>
          <a:p>
            <a:endParaRPr lang="en-US" sz="800" dirty="0"/>
          </a:p>
          <a:p>
            <a:pPr marL="285750" indent="-285750">
              <a:buFont typeface="Wingdings" panose="05000000000000000000" pitchFamily="2" charset="2"/>
              <a:buChar char="§"/>
            </a:pPr>
            <a:r>
              <a:rPr lang="en-US" dirty="0"/>
              <a:t>Lottery contract was most expensive at 0.63 ETH or $1,445.57.</a:t>
            </a:r>
          </a:p>
          <a:p>
            <a:endParaRPr lang="en-US" sz="800" dirty="0"/>
          </a:p>
          <a:p>
            <a:pPr marL="285750" indent="-285750">
              <a:buFont typeface="Wingdings" panose="05000000000000000000" pitchFamily="2" charset="2"/>
              <a:buChar char="§"/>
            </a:pPr>
            <a:r>
              <a:rPr lang="en-US" dirty="0"/>
              <a:t>Escrow &amp; Poll contract averaged around 0.25 ETH, or $573.64</a:t>
            </a:r>
          </a:p>
          <a:p>
            <a:endParaRPr lang="en-US" sz="800" dirty="0"/>
          </a:p>
          <a:p>
            <a:pPr marL="285750" indent="-285750">
              <a:buFont typeface="Wingdings" panose="05000000000000000000" pitchFamily="2" charset="2"/>
              <a:buChar char="§"/>
            </a:pPr>
            <a:r>
              <a:rPr lang="en-US" dirty="0"/>
              <a:t>These costs would likely scare away new users.</a:t>
            </a:r>
          </a:p>
        </p:txBody>
      </p:sp>
      <p:pic>
        <p:nvPicPr>
          <p:cNvPr id="6146" name="Picture 2" descr="Compare Event Deploy">
            <a:extLst>
              <a:ext uri="{FF2B5EF4-FFF2-40B4-BE49-F238E27FC236}">
                <a16:creationId xmlns:a16="http://schemas.microsoft.com/office/drawing/2014/main" id="{92A3D51F-3517-4C92-B941-BA1633C6E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1644" y="1871329"/>
            <a:ext cx="5877810" cy="3908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997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a:xfrm>
            <a:off x="1061798" y="1005500"/>
            <a:ext cx="9536882" cy="587584"/>
          </a:xfrm>
        </p:spPr>
        <p:txBody>
          <a:bodyPr>
            <a:normAutofit fontScale="90000"/>
          </a:bodyPr>
          <a:lstStyle/>
          <a:p>
            <a:r>
              <a:rPr lang="en-US" dirty="0"/>
              <a:t>Poll, Escrow, &amp; Lottery Contract Deployment (cont.)</a:t>
            </a:r>
          </a:p>
        </p:txBody>
      </p:sp>
      <p:sp>
        <p:nvSpPr>
          <p:cNvPr id="17" name="TextBox 16">
            <a:extLst>
              <a:ext uri="{FF2B5EF4-FFF2-40B4-BE49-F238E27FC236}">
                <a16:creationId xmlns:a16="http://schemas.microsoft.com/office/drawing/2014/main" id="{94B737D1-5C09-406D-AAA4-3FAFA46D9867}"/>
              </a:ext>
            </a:extLst>
          </p:cNvPr>
          <p:cNvSpPr txBox="1"/>
          <p:nvPr/>
        </p:nvSpPr>
        <p:spPr>
          <a:xfrm>
            <a:off x="1061798" y="1871329"/>
            <a:ext cx="3674044" cy="3385542"/>
          </a:xfrm>
          <a:prstGeom prst="rect">
            <a:avLst/>
          </a:prstGeom>
          <a:noFill/>
        </p:spPr>
        <p:txBody>
          <a:bodyPr wrap="square" rtlCol="0">
            <a:spAutoFit/>
          </a:bodyPr>
          <a:lstStyle/>
          <a:p>
            <a:pPr marL="285750" indent="-285750">
              <a:buFont typeface="Wingdings" panose="05000000000000000000" pitchFamily="2" charset="2"/>
              <a:buChar char="§"/>
            </a:pPr>
            <a:r>
              <a:rPr lang="en-US" dirty="0"/>
              <a:t>Considers how deployment costs are impacted by the input the user provides.</a:t>
            </a:r>
          </a:p>
          <a:p>
            <a:endParaRPr lang="en-US" sz="800" dirty="0"/>
          </a:p>
          <a:p>
            <a:pPr marL="285750" indent="-285750">
              <a:buFont typeface="Wingdings" panose="05000000000000000000" pitchFamily="2" charset="2"/>
              <a:buChar char="§"/>
            </a:pPr>
            <a:r>
              <a:rPr lang="en-US" dirty="0"/>
              <a:t>Shows how the cost changes as we increase the amount of tickets that need generated.</a:t>
            </a:r>
          </a:p>
          <a:p>
            <a:endParaRPr lang="en-US" sz="800" dirty="0"/>
          </a:p>
          <a:p>
            <a:pPr marL="285750" indent="-285750">
              <a:buFont typeface="Wingdings" panose="05000000000000000000" pitchFamily="2" charset="2"/>
              <a:buChar char="§"/>
            </a:pPr>
            <a:r>
              <a:rPr lang="en-US" dirty="0"/>
              <a:t>Concludes there is a correlation between the increasing inputs and rising deployment costs.</a:t>
            </a:r>
          </a:p>
        </p:txBody>
      </p:sp>
      <p:pic>
        <p:nvPicPr>
          <p:cNvPr id="7170" name="Picture 2" descr="Lottery Deploy Increasing Tickets">
            <a:extLst>
              <a:ext uri="{FF2B5EF4-FFF2-40B4-BE49-F238E27FC236}">
                <a16:creationId xmlns:a16="http://schemas.microsoft.com/office/drawing/2014/main" id="{5C249215-A4E8-4BCF-88AC-500EAFB21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842" y="1802217"/>
            <a:ext cx="6228558" cy="3954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506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a:xfrm>
            <a:off x="1061798" y="1005500"/>
            <a:ext cx="9536882" cy="587584"/>
          </a:xfrm>
        </p:spPr>
        <p:txBody>
          <a:bodyPr>
            <a:normAutofit/>
          </a:bodyPr>
          <a:lstStyle/>
          <a:p>
            <a:r>
              <a:rPr lang="en-US" dirty="0"/>
              <a:t>Event Contract Transactions</a:t>
            </a:r>
          </a:p>
        </p:txBody>
      </p:sp>
      <p:sp>
        <p:nvSpPr>
          <p:cNvPr id="17" name="TextBox 16">
            <a:extLst>
              <a:ext uri="{FF2B5EF4-FFF2-40B4-BE49-F238E27FC236}">
                <a16:creationId xmlns:a16="http://schemas.microsoft.com/office/drawing/2014/main" id="{94B737D1-5C09-406D-AAA4-3FAFA46D9867}"/>
              </a:ext>
            </a:extLst>
          </p:cNvPr>
          <p:cNvSpPr txBox="1"/>
          <p:nvPr/>
        </p:nvSpPr>
        <p:spPr>
          <a:xfrm>
            <a:off x="1061797" y="1871329"/>
            <a:ext cx="5668612" cy="3000821"/>
          </a:xfrm>
          <a:prstGeom prst="rect">
            <a:avLst/>
          </a:prstGeom>
          <a:noFill/>
        </p:spPr>
        <p:txBody>
          <a:bodyPr wrap="square" rtlCol="0">
            <a:spAutoFit/>
          </a:bodyPr>
          <a:lstStyle/>
          <a:p>
            <a:pPr marL="285750" indent="-285750">
              <a:buFont typeface="Wingdings" panose="05000000000000000000" pitchFamily="2" charset="2"/>
              <a:buChar char="§"/>
            </a:pPr>
            <a:r>
              <a:rPr lang="en-US" dirty="0"/>
              <a:t>Shows the costs of a user interacting with a deployed contract.</a:t>
            </a:r>
          </a:p>
          <a:p>
            <a:endParaRPr lang="en-US" sz="800" dirty="0"/>
          </a:p>
          <a:p>
            <a:pPr marL="285750" indent="-285750">
              <a:buFont typeface="Wingdings" panose="05000000000000000000" pitchFamily="2" charset="2"/>
              <a:buChar char="§"/>
            </a:pPr>
            <a:r>
              <a:rPr lang="en-US" dirty="0"/>
              <a:t>First chart we see a user making their required deposit into an Escrow smart contract, averaging 0.0065 ETH or a $14.91 fee.</a:t>
            </a:r>
          </a:p>
          <a:p>
            <a:pPr marL="285750" indent="-285750">
              <a:buFont typeface="Wingdings" panose="05000000000000000000" pitchFamily="2" charset="2"/>
              <a:buChar char="§"/>
            </a:pPr>
            <a:endParaRPr lang="en-US" sz="800" dirty="0"/>
          </a:p>
          <a:p>
            <a:pPr marL="285750" indent="-285750">
              <a:buFont typeface="Wingdings" panose="05000000000000000000" pitchFamily="2" charset="2"/>
              <a:buChar char="§"/>
            </a:pPr>
            <a:r>
              <a:rPr lang="en-US" dirty="0"/>
              <a:t>Casting a vote in the Voting smart contract is 0.0125 on average, or $28.68. </a:t>
            </a:r>
          </a:p>
          <a:p>
            <a:pPr marL="285750" indent="-285750">
              <a:buFont typeface="Wingdings" panose="05000000000000000000" pitchFamily="2" charset="2"/>
              <a:buChar char="§"/>
            </a:pPr>
            <a:endParaRPr lang="en-US" sz="800" dirty="0"/>
          </a:p>
          <a:p>
            <a:pPr marL="285750" indent="-285750">
              <a:buFont typeface="Wingdings" panose="05000000000000000000" pitchFamily="2" charset="2"/>
              <a:buChar char="§"/>
            </a:pPr>
            <a:r>
              <a:rPr lang="en-US" dirty="0"/>
              <a:t>These costs are a bit more reasonable than what we saw for deployments.</a:t>
            </a:r>
          </a:p>
        </p:txBody>
      </p:sp>
      <p:pic>
        <p:nvPicPr>
          <p:cNvPr id="8194" name="Picture 2" descr="Escrow Deposit Transaction">
            <a:extLst>
              <a:ext uri="{FF2B5EF4-FFF2-40B4-BE49-F238E27FC236}">
                <a16:creationId xmlns:a16="http://schemas.microsoft.com/office/drawing/2014/main" id="{1826DADB-14F4-4075-B86C-F409BDD49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4355" y="887039"/>
            <a:ext cx="4227485" cy="252699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Poll Vote Transaction">
            <a:extLst>
              <a:ext uri="{FF2B5EF4-FFF2-40B4-BE49-F238E27FC236}">
                <a16:creationId xmlns:a16="http://schemas.microsoft.com/office/drawing/2014/main" id="{1DFBD126-CAA2-4C76-ABCB-8258042036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3477" y="3564100"/>
            <a:ext cx="4198932" cy="2509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271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DEFF7"/>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a:xfrm>
            <a:off x="1061798" y="1005500"/>
            <a:ext cx="9536882" cy="587584"/>
          </a:xfrm>
        </p:spPr>
        <p:txBody>
          <a:bodyPr>
            <a:normAutofit/>
          </a:bodyPr>
          <a:lstStyle/>
          <a:p>
            <a:r>
              <a:rPr lang="en-US" dirty="0"/>
              <a:t>Ether and Gwei Correlation</a:t>
            </a:r>
          </a:p>
        </p:txBody>
      </p:sp>
      <p:sp>
        <p:nvSpPr>
          <p:cNvPr id="17" name="TextBox 16">
            <a:extLst>
              <a:ext uri="{FF2B5EF4-FFF2-40B4-BE49-F238E27FC236}">
                <a16:creationId xmlns:a16="http://schemas.microsoft.com/office/drawing/2014/main" id="{94B737D1-5C09-406D-AAA4-3FAFA46D9867}"/>
              </a:ext>
            </a:extLst>
          </p:cNvPr>
          <p:cNvSpPr txBox="1"/>
          <p:nvPr/>
        </p:nvSpPr>
        <p:spPr>
          <a:xfrm>
            <a:off x="1061797" y="1871329"/>
            <a:ext cx="5668612" cy="1877437"/>
          </a:xfrm>
          <a:prstGeom prst="rect">
            <a:avLst/>
          </a:prstGeom>
          <a:noFill/>
        </p:spPr>
        <p:txBody>
          <a:bodyPr wrap="square" rtlCol="0">
            <a:spAutoFit/>
          </a:bodyPr>
          <a:lstStyle/>
          <a:p>
            <a:pPr marL="285750" indent="-285750">
              <a:buFont typeface="Wingdings" panose="05000000000000000000" pitchFamily="2" charset="2"/>
              <a:buChar char="§"/>
            </a:pPr>
            <a:r>
              <a:rPr lang="en-US" dirty="0"/>
              <a:t>Shows three separate time periods where Ether and gas prices were tracked.</a:t>
            </a:r>
          </a:p>
          <a:p>
            <a:pPr marL="285750" indent="-285750">
              <a:buFont typeface="Wingdings" panose="05000000000000000000" pitchFamily="2" charset="2"/>
              <a:buChar char="§"/>
            </a:pPr>
            <a:endParaRPr lang="en-US" sz="800" dirty="0"/>
          </a:p>
          <a:p>
            <a:pPr marL="285750" indent="-285750">
              <a:buFont typeface="Wingdings" panose="05000000000000000000" pitchFamily="2" charset="2"/>
              <a:buChar char="§"/>
            </a:pPr>
            <a:r>
              <a:rPr lang="en-US" dirty="0"/>
              <a:t>Ether’s price has increased from $155 to $2,294.56 (1,380%) in a year, while gas prices have increased almost 1000% from a year ago.</a:t>
            </a:r>
          </a:p>
        </p:txBody>
      </p:sp>
      <p:pic>
        <p:nvPicPr>
          <p:cNvPr id="9218" name="Picture 2" descr="Eth Gwei Correlation 1">
            <a:extLst>
              <a:ext uri="{FF2B5EF4-FFF2-40B4-BE49-F238E27FC236}">
                <a16:creationId xmlns:a16="http://schemas.microsoft.com/office/drawing/2014/main" id="{7E6C2412-7C09-4D4D-BF5E-92E9446AA6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0408" y="814405"/>
            <a:ext cx="4275747" cy="261459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Eth Gwei Correlation 2">
            <a:extLst>
              <a:ext uri="{FF2B5EF4-FFF2-40B4-BE49-F238E27FC236}">
                <a16:creationId xmlns:a16="http://schemas.microsoft.com/office/drawing/2014/main" id="{AA3EB01C-0BAD-4B77-A643-296BCE870F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5435" y="3527141"/>
            <a:ext cx="4275747" cy="261459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Eth Gwei Correlation 3">
            <a:extLst>
              <a:ext uri="{FF2B5EF4-FFF2-40B4-BE49-F238E27FC236}">
                <a16:creationId xmlns:a16="http://schemas.microsoft.com/office/drawing/2014/main" id="{4827FE6F-C8CE-4BFF-89E2-B06635AEC4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0408" y="3527141"/>
            <a:ext cx="4275747" cy="2614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490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B250FE-08C8-4530-B722-29C38A359D8B}"/>
              </a:ext>
            </a:extLst>
          </p:cNvPr>
          <p:cNvSpPr>
            <a:spLocks noGrp="1"/>
          </p:cNvSpPr>
          <p:nvPr>
            <p:ph sz="half" idx="2"/>
          </p:nvPr>
        </p:nvSpPr>
        <p:spPr>
          <a:xfrm>
            <a:off x="1097280" y="1555147"/>
            <a:ext cx="10151967" cy="4384674"/>
          </a:xfrm>
        </p:spPr>
        <p:txBody>
          <a:bodyPr/>
          <a:lstStyle/>
          <a:p>
            <a:r>
              <a:rPr lang="en-US" dirty="0">
                <a:solidFill>
                  <a:schemeClr val="tx1"/>
                </a:solidFill>
              </a:rPr>
              <a:t>The collected data and analysis provided the insight needed to address the stated research questions. The study found the expected transaction costs that a user could experience while interacting with a dapp. These costs were quite high with the user spending hundreds or even thousands to deploy their own smart contract. While we looked at these costs, we explored the factors that influence how much gas needs to be used in each transaction. The amount of user input causes higher costs, which we saw when analyzing the effects of having to generate additional tickets for the lottery contract deployment. Furthermore, we observed Ether's price fluctuations and how they directly correlate to the price of gas on the network. This in turn influences how much users on the network must pay to interact with the blockchain. Even with proper architecture and engineering, it can be difficult to keep costs low for users when designing and developing a decentralized application. If the price of Ether continues to rise, one can assume gas prices will rise with it, and it becomes unclear of how users will interact with a blockchain that has such high fees. Scaling solutions are said to be on the way for Ethereum, but it is yet to be seen if they will be effective in reducing the cost for users. In its current state, Ethereum functions properly and can do some unique and powerful things that may benefit our society, but the transaction costs are far too high to expect a regular person to use them.</a:t>
            </a:r>
          </a:p>
        </p:txBody>
      </p:sp>
      <p:sp>
        <p:nvSpPr>
          <p:cNvPr id="2" name="Title 1">
            <a:extLst>
              <a:ext uri="{FF2B5EF4-FFF2-40B4-BE49-F238E27FC236}">
                <a16:creationId xmlns:a16="http://schemas.microsoft.com/office/drawing/2014/main" id="{CDC62B56-74BF-47D4-B1CD-AF93A810B3B7}"/>
              </a:ext>
            </a:extLst>
          </p:cNvPr>
          <p:cNvSpPr>
            <a:spLocks noGrp="1"/>
          </p:cNvSpPr>
          <p:nvPr>
            <p:ph type="title"/>
          </p:nvPr>
        </p:nvSpPr>
        <p:spPr>
          <a:xfrm>
            <a:off x="1097280" y="942871"/>
            <a:ext cx="10058400" cy="587584"/>
          </a:xfrm>
        </p:spPr>
        <p:txBody>
          <a:bodyPr/>
          <a:lstStyle/>
          <a:p>
            <a:r>
              <a:rPr lang="en-US" dirty="0"/>
              <a:t>analysis</a:t>
            </a:r>
          </a:p>
        </p:txBody>
      </p:sp>
    </p:spTree>
    <p:extLst>
      <p:ext uri="{BB962C8B-B14F-4D97-AF65-F5344CB8AC3E}">
        <p14:creationId xmlns:p14="http://schemas.microsoft.com/office/powerpoint/2010/main" val="3965968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B250FE-08C8-4530-B722-29C38A359D8B}"/>
              </a:ext>
            </a:extLst>
          </p:cNvPr>
          <p:cNvSpPr>
            <a:spLocks noGrp="1"/>
          </p:cNvSpPr>
          <p:nvPr>
            <p:ph sz="half" idx="2"/>
          </p:nvPr>
        </p:nvSpPr>
        <p:spPr>
          <a:xfrm>
            <a:off x="1097280" y="1555147"/>
            <a:ext cx="10151967" cy="4384674"/>
          </a:xfrm>
        </p:spPr>
        <p:txBody>
          <a:bodyPr/>
          <a:lstStyle/>
          <a:p>
            <a:r>
              <a:rPr lang="en-US" dirty="0">
                <a:solidFill>
                  <a:schemeClr val="tx1"/>
                </a:solidFill>
              </a:rPr>
              <a:t>Blockchain technology's growth has brought many to question its practicality in our everyday lives. Decentralized applications and smart contracts are being developed for a variety of use cases, and in every different field. Ethereum is one of the most used blockchains for smart contracts, and our study demonstrates how to develop a dapp on Ethereum and explore the costs associated with it. Using python and some data science tools, we identified the average costs a user could expect based on transaction types, and explored what factors, such as Ether's gas price, could impact it. Overall, this study demonstrated that decentralized applications may not yet be ready to handle events effectively, such as a poll or lottery, for everyday users who are unfamiliar with decentralized technology. It can certainly handle processing events that require trust; however, the question becomes are users willing to pay for the benefits of decentralization, and at what cost? This question will likely be answered in the coming years as blockchain technology matures and improves its scalability.</a:t>
            </a:r>
          </a:p>
        </p:txBody>
      </p:sp>
      <p:sp>
        <p:nvSpPr>
          <p:cNvPr id="2" name="Title 1">
            <a:extLst>
              <a:ext uri="{FF2B5EF4-FFF2-40B4-BE49-F238E27FC236}">
                <a16:creationId xmlns:a16="http://schemas.microsoft.com/office/drawing/2014/main" id="{CDC62B56-74BF-47D4-B1CD-AF93A810B3B7}"/>
              </a:ext>
            </a:extLst>
          </p:cNvPr>
          <p:cNvSpPr>
            <a:spLocks noGrp="1"/>
          </p:cNvSpPr>
          <p:nvPr>
            <p:ph type="title"/>
          </p:nvPr>
        </p:nvSpPr>
        <p:spPr>
          <a:xfrm>
            <a:off x="1097280" y="942871"/>
            <a:ext cx="10058400" cy="587584"/>
          </a:xfrm>
        </p:spPr>
        <p:txBody>
          <a:bodyPr/>
          <a:lstStyle/>
          <a:p>
            <a:r>
              <a:rPr lang="en-US" dirty="0"/>
              <a:t>conclusion</a:t>
            </a:r>
          </a:p>
        </p:txBody>
      </p:sp>
    </p:spTree>
    <p:extLst>
      <p:ext uri="{BB962C8B-B14F-4D97-AF65-F5344CB8AC3E}">
        <p14:creationId xmlns:p14="http://schemas.microsoft.com/office/powerpoint/2010/main" val="3853024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7AEFB0-51F2-5449-996C-73382891D2F9}"/>
              </a:ext>
            </a:extLst>
          </p:cNvPr>
          <p:cNvSpPr>
            <a:spLocks noGrp="1"/>
          </p:cNvSpPr>
          <p:nvPr>
            <p:ph type="ctrTitle"/>
          </p:nvPr>
        </p:nvSpPr>
        <p:spPr>
          <a:xfrm>
            <a:off x="1066800" y="1346200"/>
            <a:ext cx="10058400" cy="838200"/>
          </a:xfrm>
        </p:spPr>
        <p:txBody>
          <a:bodyPr>
            <a:normAutofit/>
          </a:bodyPr>
          <a:lstStyle/>
          <a:p>
            <a:pPr algn="ctr"/>
            <a:r>
              <a:rPr lang="en-US" sz="4400" b="1" dirty="0">
                <a:solidFill>
                  <a:schemeClr val="tx1"/>
                </a:solidFill>
              </a:rPr>
              <a:t>Thank you</a:t>
            </a:r>
          </a:p>
        </p:txBody>
      </p:sp>
      <p:sp>
        <p:nvSpPr>
          <p:cNvPr id="5" name="Subtitle 4">
            <a:extLst>
              <a:ext uri="{FF2B5EF4-FFF2-40B4-BE49-F238E27FC236}">
                <a16:creationId xmlns:a16="http://schemas.microsoft.com/office/drawing/2014/main" id="{B0F6D6CF-8D73-6643-A348-53AAE29FD1C2}"/>
              </a:ext>
            </a:extLst>
          </p:cNvPr>
          <p:cNvSpPr>
            <a:spLocks noGrp="1"/>
          </p:cNvSpPr>
          <p:nvPr>
            <p:ph type="subTitle" idx="1"/>
          </p:nvPr>
        </p:nvSpPr>
        <p:spPr>
          <a:xfrm>
            <a:off x="1066800" y="2527300"/>
            <a:ext cx="10058400" cy="3238500"/>
          </a:xfrm>
        </p:spPr>
        <p:txBody>
          <a:bodyPr>
            <a:normAutofit/>
          </a:bodyPr>
          <a:lstStyle/>
          <a:p>
            <a:pPr algn="ctr">
              <a:lnSpc>
                <a:spcPct val="100000"/>
              </a:lnSpc>
            </a:pPr>
            <a:r>
              <a:rPr lang="en-US" b="1" dirty="0"/>
              <a:t>Questions? Contact me:</a:t>
            </a:r>
          </a:p>
          <a:p>
            <a:pPr algn="ctr">
              <a:lnSpc>
                <a:spcPct val="100000"/>
              </a:lnSpc>
            </a:pPr>
            <a:r>
              <a:rPr lang="en-US" dirty="0"/>
              <a:t>Stephen </a:t>
            </a:r>
            <a:r>
              <a:rPr lang="en-US" dirty="0" err="1"/>
              <a:t>eades</a:t>
            </a:r>
            <a:endParaRPr lang="en-US" dirty="0"/>
          </a:p>
          <a:p>
            <a:pPr algn="ctr">
              <a:lnSpc>
                <a:spcPct val="100000"/>
              </a:lnSpc>
            </a:pPr>
            <a:r>
              <a:rPr lang="en-US" sz="2400" dirty="0">
                <a:hlinkClick r:id="rId2"/>
              </a:rPr>
              <a:t>eadessn@mail.uc.edu</a:t>
            </a:r>
            <a:endParaRPr lang="en-US" sz="2400" dirty="0"/>
          </a:p>
          <a:p>
            <a:pPr algn="ctr">
              <a:lnSpc>
                <a:spcPct val="100000"/>
              </a:lnSpc>
            </a:pPr>
            <a:r>
              <a:rPr lang="en-US" dirty="0"/>
              <a:t>513-488-4847</a:t>
            </a:r>
            <a:endParaRPr lang="en-US" sz="2400" dirty="0"/>
          </a:p>
        </p:txBody>
      </p:sp>
    </p:spTree>
    <p:extLst>
      <p:ext uri="{BB962C8B-B14F-4D97-AF65-F5344CB8AC3E}">
        <p14:creationId xmlns:p14="http://schemas.microsoft.com/office/powerpoint/2010/main" val="1777908578"/>
      </p:ext>
    </p:extLst>
  </p:cSld>
  <p:clrMapOvr>
    <a:masterClrMapping/>
  </p:clrMapOvr>
</p:sld>
</file>

<file path=ppt/theme/theme1.xml><?xml version="1.0" encoding="utf-8"?>
<a:theme xmlns:a="http://schemas.openxmlformats.org/drawingml/2006/main" name="RetrospectVTI">
  <a:themeElements>
    <a:clrScheme name="MONO">
      <a:dk1>
        <a:srgbClr val="000000"/>
      </a:dk1>
      <a:lt1>
        <a:srgbClr val="ECEEF7"/>
      </a:lt1>
      <a:dk2>
        <a:srgbClr val="000000"/>
      </a:dk2>
      <a:lt2>
        <a:srgbClr val="F5F8FF"/>
      </a:lt2>
      <a:accent1>
        <a:srgbClr val="ECEEF7"/>
      </a:accent1>
      <a:accent2>
        <a:srgbClr val="F5F8FF"/>
      </a:accent2>
      <a:accent3>
        <a:srgbClr val="A1A2A9"/>
      </a:accent3>
      <a:accent4>
        <a:srgbClr val="141514"/>
      </a:accent4>
      <a:accent5>
        <a:srgbClr val="000000"/>
      </a:accent5>
      <a:accent6>
        <a:srgbClr val="96969C"/>
      </a:accent6>
      <a:hlink>
        <a:srgbClr val="5F6063"/>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Sales Pitch" id="{BA0280BF-E6B4-464B-BF28-F0D2A23065D1}" vid="{A1F0DEB3-06CD-4A85-8D08-B66BE056CE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Minimalist sales pitch</Template>
  <TotalTime>162</TotalTime>
  <Words>2130</Words>
  <Application>Microsoft Office PowerPoint</Application>
  <PresentationFormat>Widescreen</PresentationFormat>
  <Paragraphs>149</Paragraphs>
  <Slides>22</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Century Gothic</vt:lpstr>
      <vt:lpstr>Wingdings</vt:lpstr>
      <vt:lpstr>RetrospectVTI</vt:lpstr>
      <vt:lpstr>The Practicality of Decentralized Smart Contracts</vt:lpstr>
      <vt:lpstr>OUTLINE</vt:lpstr>
      <vt:lpstr>Synopsis</vt:lpstr>
      <vt:lpstr>RESEARCH QUESTIONS</vt:lpstr>
      <vt:lpstr>Problem statement</vt:lpstr>
      <vt:lpstr>Problem statement (cont.)</vt:lpstr>
      <vt:lpstr>ARCHITECTURE &amp; ENGINEERING</vt:lpstr>
      <vt:lpstr>ARCHITECTURE &amp; ENGINEERING (cont.)</vt:lpstr>
      <vt:lpstr>ARCHITECTURE &amp; ENGINEERING (cont.)</vt:lpstr>
      <vt:lpstr>ARCHITECTURE &amp; ENGINEERING (cont.)</vt:lpstr>
      <vt:lpstr>USER EXPERIENCE &amp; INTERFACE</vt:lpstr>
      <vt:lpstr>APPLICATION DEMONSTRATION</vt:lpstr>
      <vt:lpstr>EVALUATION METRICS</vt:lpstr>
      <vt:lpstr>DATA INSIGHT</vt:lpstr>
      <vt:lpstr>Event Manager &amp; Event Creator Deployment</vt:lpstr>
      <vt:lpstr>Poll, Escrow, &amp; Lottery Contract Deployment</vt:lpstr>
      <vt:lpstr>Poll, Escrow, &amp; Lottery Contract Deployment (cont.)</vt:lpstr>
      <vt:lpstr>Event Contract Transactions</vt:lpstr>
      <vt:lpstr>Ether and Gwei Correlation</vt:lpstr>
      <vt:lpstr>analysis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Practicality of Decentralized Smart Contracts</dc:title>
  <dc:creator>Eades, Stephen (eadessn)</dc:creator>
  <cp:lastModifiedBy>Eades, Stephen (eadessn)</cp:lastModifiedBy>
  <cp:revision>26</cp:revision>
  <dcterms:created xsi:type="dcterms:W3CDTF">2021-04-14T17:02:36Z</dcterms:created>
  <dcterms:modified xsi:type="dcterms:W3CDTF">2021-04-15T00:27:05Z</dcterms:modified>
</cp:coreProperties>
</file>